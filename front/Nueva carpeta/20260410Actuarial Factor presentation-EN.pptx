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62" r:id="rId4"/>
    <p:sldId id="263" r:id="rId5"/>
    <p:sldId id="279" r:id="rId6"/>
    <p:sldId id="268" r:id="rId7"/>
    <p:sldId id="274" r:id="rId8"/>
    <p:sldId id="275" r:id="rId9"/>
    <p:sldId id="264" r:id="rId10"/>
    <p:sldId id="265" r:id="rId11"/>
    <p:sldId id="277" r:id="rId12"/>
    <p:sldId id="267" r:id="rId13"/>
  </p:sldIdLst>
  <p:sldSz cx="18288000" cy="10287000"/>
  <p:notesSz cx="6858000" cy="9144000"/>
  <p:embeddedFontLst>
    <p:embeddedFont>
      <p:font typeface="Montserrat Classic" panose="020B0604020202020204" charset="0"/>
      <p:regular r:id="rId15"/>
    </p:embeddedFont>
    <p:embeddedFont>
      <p:font typeface="Montserrat Classic Bold" panose="020B0604020202020204" charset="0"/>
      <p:regular r:id="rId16"/>
    </p:embeddedFont>
    <p:embeddedFont>
      <p:font typeface="Montserrat Light" panose="00000400000000000000" pitchFamily="2" charset="0"/>
      <p:regular r:id="rId17"/>
      <p: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6A00B1-3E59-A0DA-429F-71338E29030E}" name="Po-Jung Chen" initials="PJC" userId="S::pchen@actuarialfactor.com::ac24c2af-8c62-46a4-bfc5-0ed6452d55b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B4B"/>
    <a:srgbClr val="00277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576"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py Mead" userId="8f610b49-ab93-41fe-a253-5a5bec6263c5" providerId="ADAL" clId="{0ACEB529-4C82-42EA-9FF2-00E91CB7A71E}"/>
    <pc:docChg chg="modSld">
      <pc:chgData name="Espy Mead" userId="8f610b49-ab93-41fe-a253-5a5bec6263c5" providerId="ADAL" clId="{0ACEB529-4C82-42EA-9FF2-00E91CB7A71E}" dt="2026-04-10T19:43:59.924" v="96" actId="20577"/>
      <pc:docMkLst>
        <pc:docMk/>
      </pc:docMkLst>
      <pc:sldChg chg="modSp mod">
        <pc:chgData name="Espy Mead" userId="8f610b49-ab93-41fe-a253-5a5bec6263c5" providerId="ADAL" clId="{0ACEB529-4C82-42EA-9FF2-00E91CB7A71E}" dt="2026-04-10T19:38:37.683" v="53" actId="20577"/>
        <pc:sldMkLst>
          <pc:docMk/>
          <pc:sldMk cId="0" sldId="263"/>
        </pc:sldMkLst>
        <pc:spChg chg="mod">
          <ac:chgData name="Espy Mead" userId="8f610b49-ab93-41fe-a253-5a5bec6263c5" providerId="ADAL" clId="{0ACEB529-4C82-42EA-9FF2-00E91CB7A71E}" dt="2026-04-10T19:38:37.683" v="53" actId="20577"/>
          <ac:spMkLst>
            <pc:docMk/>
            <pc:sldMk cId="0" sldId="263"/>
            <ac:spMk id="16" creationId="{00000000-0000-0000-0000-000000000000}"/>
          </ac:spMkLst>
        </pc:spChg>
      </pc:sldChg>
      <pc:sldChg chg="modSp mod">
        <pc:chgData name="Espy Mead" userId="8f610b49-ab93-41fe-a253-5a5bec6263c5" providerId="ADAL" clId="{0ACEB529-4C82-42EA-9FF2-00E91CB7A71E}" dt="2026-04-10T19:37:50.738" v="7" actId="20577"/>
        <pc:sldMkLst>
          <pc:docMk/>
          <pc:sldMk cId="2154491189" sldId="268"/>
        </pc:sldMkLst>
        <pc:spChg chg="mod">
          <ac:chgData name="Espy Mead" userId="8f610b49-ab93-41fe-a253-5a5bec6263c5" providerId="ADAL" clId="{0ACEB529-4C82-42EA-9FF2-00E91CB7A71E}" dt="2026-04-10T19:37:50.738" v="7" actId="20577"/>
          <ac:spMkLst>
            <pc:docMk/>
            <pc:sldMk cId="2154491189" sldId="268"/>
            <ac:spMk id="7" creationId="{00000000-0000-0000-0000-000000000000}"/>
          </ac:spMkLst>
        </pc:spChg>
      </pc:sldChg>
      <pc:sldChg chg="modSp mod">
        <pc:chgData name="Espy Mead" userId="8f610b49-ab93-41fe-a253-5a5bec6263c5" providerId="ADAL" clId="{0ACEB529-4C82-42EA-9FF2-00E91CB7A71E}" dt="2026-04-10T19:43:59.924" v="96" actId="20577"/>
        <pc:sldMkLst>
          <pc:docMk/>
          <pc:sldMk cId="2133771187" sldId="274"/>
        </pc:sldMkLst>
        <pc:spChg chg="mod">
          <ac:chgData name="Espy Mead" userId="8f610b49-ab93-41fe-a253-5a5bec6263c5" providerId="ADAL" clId="{0ACEB529-4C82-42EA-9FF2-00E91CB7A71E}" dt="2026-04-10T19:43:59.924" v="96" actId="20577"/>
          <ac:spMkLst>
            <pc:docMk/>
            <pc:sldMk cId="2133771187" sldId="274"/>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C8E825-AFD4-4F21-89F6-9D807BB305D0}"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09277-6060-4485-8AF2-E126CE122F85}" type="slidenum">
              <a:rPr lang="en-US" smtClean="0"/>
              <a:t>‹#›</a:t>
            </a:fld>
            <a:endParaRPr lang="en-US"/>
          </a:p>
        </p:txBody>
      </p:sp>
    </p:spTree>
    <p:extLst>
      <p:ext uri="{BB962C8B-B14F-4D97-AF65-F5344CB8AC3E}">
        <p14:creationId xmlns:p14="http://schemas.microsoft.com/office/powerpoint/2010/main" val="3326701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B09277-6060-4485-8AF2-E126CE122F85}" type="slidenum">
              <a:rPr lang="en-US" smtClean="0"/>
              <a:t>6</a:t>
            </a:fld>
            <a:endParaRPr lang="en-US"/>
          </a:p>
        </p:txBody>
      </p:sp>
    </p:spTree>
    <p:extLst>
      <p:ext uri="{BB962C8B-B14F-4D97-AF65-F5344CB8AC3E}">
        <p14:creationId xmlns:p14="http://schemas.microsoft.com/office/powerpoint/2010/main" val="2549034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tel://800-957-9196/" TargetMode="Externa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49266" y="2591059"/>
            <a:ext cx="15389468" cy="6114136"/>
            <a:chOff x="0" y="114300"/>
            <a:chExt cx="20519291" cy="8152181"/>
          </a:xfrm>
        </p:grpSpPr>
        <p:sp>
          <p:nvSpPr>
            <p:cNvPr id="3" name="AutoShape 3"/>
            <p:cNvSpPr/>
            <p:nvPr/>
          </p:nvSpPr>
          <p:spPr>
            <a:xfrm>
              <a:off x="347208" y="6549107"/>
              <a:ext cx="19824874" cy="231790"/>
            </a:xfrm>
            <a:prstGeom prst="rect">
              <a:avLst/>
            </a:prstGeom>
            <a:solidFill>
              <a:srgbClr val="110B4B"/>
            </a:solidFill>
          </p:spPr>
          <p:txBody>
            <a:bodyPr/>
            <a:lstStyle/>
            <a:p>
              <a:endParaRPr lang="en-US"/>
            </a:p>
          </p:txBody>
        </p:sp>
        <p:sp>
          <p:nvSpPr>
            <p:cNvPr id="4" name="TextBox 4"/>
            <p:cNvSpPr txBox="1"/>
            <p:nvPr/>
          </p:nvSpPr>
          <p:spPr>
            <a:xfrm>
              <a:off x="0" y="114300"/>
              <a:ext cx="20519291" cy="2000548"/>
            </a:xfrm>
            <a:prstGeom prst="rect">
              <a:avLst/>
            </a:prstGeom>
          </p:spPr>
          <p:txBody>
            <a:bodyPr lIns="0" tIns="0" rIns="0" bIns="0" rtlCol="0" anchor="t">
              <a:spAutoFit/>
            </a:bodyPr>
            <a:lstStyle/>
            <a:p>
              <a:pPr algn="r">
                <a:lnSpc>
                  <a:spcPts val="11664"/>
                </a:lnSpc>
              </a:pPr>
              <a:r>
                <a:rPr lang="en-US" sz="10800" spc="756" dirty="0">
                  <a:solidFill>
                    <a:srgbClr val="110B4B"/>
                  </a:solidFill>
                  <a:latin typeface="Montserrat Classic Bold"/>
                </a:rPr>
                <a:t>Actuarial Services</a:t>
              </a:r>
            </a:p>
          </p:txBody>
        </p:sp>
        <p:sp>
          <p:nvSpPr>
            <p:cNvPr id="5" name="TextBox 5"/>
            <p:cNvSpPr txBox="1"/>
            <p:nvPr/>
          </p:nvSpPr>
          <p:spPr>
            <a:xfrm>
              <a:off x="405686" y="7568404"/>
              <a:ext cx="19707919" cy="698077"/>
            </a:xfrm>
            <a:prstGeom prst="rect">
              <a:avLst/>
            </a:prstGeom>
          </p:spPr>
          <p:txBody>
            <a:bodyPr lIns="0" tIns="0" rIns="0" bIns="0" rtlCol="0" anchor="t">
              <a:spAutoFit/>
            </a:bodyPr>
            <a:lstStyle/>
            <a:p>
              <a:pPr algn="r">
                <a:lnSpc>
                  <a:spcPts val="4479"/>
                </a:lnSpc>
              </a:pPr>
              <a:r>
                <a:rPr lang="en-US" sz="3199" spc="223">
                  <a:solidFill>
                    <a:srgbClr val="110B4B"/>
                  </a:solidFill>
                  <a:latin typeface="Montserrat Classic"/>
                </a:rPr>
                <a:t>Actuarial Factor, LLC</a:t>
              </a:r>
            </a:p>
          </p:txBody>
        </p:sp>
      </p:grpSp>
      <p:pic>
        <p:nvPicPr>
          <p:cNvPr id="6" name="Picture 6"/>
          <p:cNvPicPr>
            <a:picLocks noChangeAspect="1"/>
          </p:cNvPicPr>
          <p:nvPr/>
        </p:nvPicPr>
        <p:blipFill>
          <a:blip r:embed="rId2"/>
          <a:srcRect/>
          <a:stretch>
            <a:fillRect/>
          </a:stretch>
        </p:blipFill>
        <p:spPr>
          <a:xfrm>
            <a:off x="15151067" y="776541"/>
            <a:ext cx="2260633" cy="809118"/>
          </a:xfrm>
          <a:prstGeom prst="rect">
            <a:avLst/>
          </a:prstGeom>
        </p:spPr>
      </p:pic>
      <p:sp>
        <p:nvSpPr>
          <p:cNvPr id="7" name="TextBox 5">
            <a:extLst>
              <a:ext uri="{FF2B5EF4-FFF2-40B4-BE49-F238E27FC236}">
                <a16:creationId xmlns:a16="http://schemas.microsoft.com/office/drawing/2014/main" id="{93FFD63D-32D2-5E75-1A1F-4CF2177BDCB2}"/>
              </a:ext>
            </a:extLst>
          </p:cNvPr>
          <p:cNvSpPr txBox="1"/>
          <p:nvPr/>
        </p:nvSpPr>
        <p:spPr>
          <a:xfrm>
            <a:off x="2745062" y="9385332"/>
            <a:ext cx="13789408" cy="482568"/>
          </a:xfrm>
          <a:prstGeom prst="rect">
            <a:avLst/>
          </a:prstGeom>
        </p:spPr>
        <p:txBody>
          <a:bodyPr wrap="square" lIns="0" tIns="0" rIns="0" bIns="0" rtlCol="0" anchor="t">
            <a:spAutoFit/>
          </a:bodyPr>
          <a:lstStyle/>
          <a:p>
            <a:pPr algn="r">
              <a:lnSpc>
                <a:spcPts val="4479"/>
              </a:lnSpc>
            </a:pPr>
            <a:r>
              <a:rPr lang="en-US" sz="2000" spc="223" dirty="0">
                <a:solidFill>
                  <a:srgbClr val="110B4B"/>
                </a:solidFill>
                <a:latin typeface="Montserrat Classic"/>
              </a:rPr>
              <a:t>April 10,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AutoShape 2"/>
          <p:cNvSpPr/>
          <p:nvPr/>
        </p:nvSpPr>
        <p:spPr>
          <a:xfrm>
            <a:off x="1028700" y="1028700"/>
            <a:ext cx="16230600" cy="8229600"/>
          </a:xfrm>
          <a:prstGeom prst="rect">
            <a:avLst/>
          </a:prstGeom>
          <a:solidFill>
            <a:srgbClr val="110B4B">
              <a:alpha val="89804"/>
            </a:srgbClr>
          </a:solidFill>
        </p:spPr>
        <p:txBody>
          <a:bodyPr/>
          <a:lstStyle/>
          <a:p>
            <a:endParaRPr lang="en-US"/>
          </a:p>
        </p:txBody>
      </p:sp>
      <p:grpSp>
        <p:nvGrpSpPr>
          <p:cNvPr id="3" name="Group 3"/>
          <p:cNvGrpSpPr/>
          <p:nvPr/>
        </p:nvGrpSpPr>
        <p:grpSpPr>
          <a:xfrm>
            <a:off x="2199072" y="1953458"/>
            <a:ext cx="5826875" cy="1958960"/>
            <a:chOff x="0" y="0"/>
            <a:chExt cx="7769167" cy="2611947"/>
          </a:xfrm>
        </p:grpSpPr>
        <p:sp>
          <p:nvSpPr>
            <p:cNvPr id="4" name="TextBox 4"/>
            <p:cNvSpPr txBox="1"/>
            <p:nvPr/>
          </p:nvSpPr>
          <p:spPr>
            <a:xfrm>
              <a:off x="0" y="-47625"/>
              <a:ext cx="7769167" cy="1571625"/>
            </a:xfrm>
            <a:prstGeom prst="rect">
              <a:avLst/>
            </a:prstGeom>
          </p:spPr>
          <p:txBody>
            <a:bodyPr lIns="0" tIns="0" rIns="0" bIns="0" rtlCol="0" anchor="t">
              <a:spAutoFit/>
            </a:bodyPr>
            <a:lstStyle/>
            <a:p>
              <a:pPr>
                <a:lnSpc>
                  <a:spcPts val="9450"/>
                </a:lnSpc>
              </a:pPr>
              <a:r>
                <a:rPr lang="en-US" sz="7500" spc="67">
                  <a:solidFill>
                    <a:srgbClr val="F8FBFD"/>
                  </a:solidFill>
                  <a:latin typeface="Montserrat Classic"/>
                </a:rPr>
                <a:t>Agenda</a:t>
              </a:r>
            </a:p>
          </p:txBody>
        </p:sp>
        <p:sp>
          <p:nvSpPr>
            <p:cNvPr id="5" name="AutoShape 5"/>
            <p:cNvSpPr/>
            <p:nvPr/>
          </p:nvSpPr>
          <p:spPr>
            <a:xfrm>
              <a:off x="0" y="2380157"/>
              <a:ext cx="5915653" cy="231790"/>
            </a:xfrm>
            <a:prstGeom prst="rect">
              <a:avLst/>
            </a:prstGeom>
            <a:solidFill>
              <a:srgbClr val="F8FBFD"/>
            </a:solidFill>
          </p:spPr>
          <p:txBody>
            <a:bodyPr/>
            <a:lstStyle/>
            <a:p>
              <a:endParaRPr lang="en-US"/>
            </a:p>
          </p:txBody>
        </p:sp>
      </p:grpSp>
      <p:grpSp>
        <p:nvGrpSpPr>
          <p:cNvPr id="6" name="Group 6"/>
          <p:cNvGrpSpPr>
            <a:grpSpLocks noChangeAspect="1"/>
          </p:cNvGrpSpPr>
          <p:nvPr/>
        </p:nvGrpSpPr>
        <p:grpSpPr>
          <a:xfrm>
            <a:off x="11492597" y="-203728"/>
            <a:ext cx="8944351" cy="10694456"/>
            <a:chOff x="0" y="0"/>
            <a:chExt cx="8603361" cy="10286746"/>
          </a:xfrm>
        </p:grpSpPr>
        <p:sp>
          <p:nvSpPr>
            <p:cNvPr id="7" name="Freeform 7"/>
            <p:cNvSpPr/>
            <p:nvPr/>
          </p:nvSpPr>
          <p:spPr>
            <a:xfrm>
              <a:off x="-2794" y="-128"/>
              <a:ext cx="8606155" cy="10286874"/>
            </a:xfrm>
            <a:custGeom>
              <a:avLst/>
              <a:gdLst/>
              <a:ahLst/>
              <a:cxnLst/>
              <a:rect l="l" t="t" r="r" b="b"/>
              <a:pathLst>
                <a:path w="8606155" h="10286874">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a:blip r:embed="rId2"/>
              <a:stretch>
                <a:fillRect l="-28801" r="-50549"/>
              </a:stretch>
            </a:blipFill>
          </p:spPr>
          <p:txBody>
            <a:bodyPr/>
            <a:lstStyle/>
            <a:p>
              <a:endParaRPr lang="en-US"/>
            </a:p>
          </p:txBody>
        </p:sp>
      </p:grpSp>
      <p:sp>
        <p:nvSpPr>
          <p:cNvPr id="8" name="TextBox 8"/>
          <p:cNvSpPr txBox="1"/>
          <p:nvPr/>
        </p:nvSpPr>
        <p:spPr>
          <a:xfrm>
            <a:off x="2199072" y="4863572"/>
            <a:ext cx="8957459" cy="2109295"/>
          </a:xfrm>
          <a:prstGeom prst="rect">
            <a:avLst/>
          </a:prstGeom>
        </p:spPr>
        <p:txBody>
          <a:bodyPr lIns="0" tIns="0" rIns="0" bIns="0" rtlCol="0" anchor="t">
            <a:spAutoFit/>
          </a:bodyPr>
          <a:lstStyle/>
          <a:p>
            <a:pPr marL="609970" lvl="1" indent="-304985">
              <a:lnSpc>
                <a:spcPts val="4237"/>
              </a:lnSpc>
              <a:buFont typeface="Arial"/>
              <a:buChar char="•"/>
            </a:pPr>
            <a:r>
              <a:rPr lang="en-US" sz="2825" spc="28" dirty="0">
                <a:solidFill>
                  <a:srgbClr val="F8FBFD"/>
                </a:solidFill>
                <a:latin typeface="Montserrat Light"/>
              </a:rPr>
              <a:t>Introduction to Actuarial Factor</a:t>
            </a:r>
          </a:p>
          <a:p>
            <a:pPr marL="609970" lvl="1" indent="-304985">
              <a:lnSpc>
                <a:spcPts val="4237"/>
              </a:lnSpc>
              <a:buFont typeface="Arial"/>
              <a:buChar char="•"/>
            </a:pPr>
            <a:r>
              <a:rPr lang="en-US" sz="2825" spc="28" dirty="0">
                <a:solidFill>
                  <a:srgbClr val="F8FBFD"/>
                </a:solidFill>
                <a:latin typeface="Montserrat Light"/>
              </a:rPr>
              <a:t>Our services</a:t>
            </a:r>
          </a:p>
          <a:p>
            <a:pPr marL="609970" lvl="1" indent="-304985">
              <a:lnSpc>
                <a:spcPts val="4237"/>
              </a:lnSpc>
              <a:buFont typeface="Arial"/>
              <a:buChar char="•"/>
            </a:pPr>
            <a:r>
              <a:rPr lang="en-US" sz="2825" spc="28" dirty="0">
                <a:solidFill>
                  <a:srgbClr val="F8FBFD"/>
                </a:solidFill>
                <a:latin typeface="Montserrat Light"/>
              </a:rPr>
              <a:t>Meet the team</a:t>
            </a:r>
          </a:p>
          <a:p>
            <a:pPr marL="609970" lvl="1" indent="-304985">
              <a:lnSpc>
                <a:spcPts val="4237"/>
              </a:lnSpc>
              <a:buFont typeface="Arial"/>
              <a:buChar char="•"/>
            </a:pPr>
            <a:r>
              <a:rPr lang="en-US" sz="2825" spc="28" dirty="0">
                <a:solidFill>
                  <a:srgbClr val="F8FBFD"/>
                </a:solidFill>
                <a:latin typeface="Montserrat Light"/>
              </a:rPr>
              <a:t>Our locations</a:t>
            </a:r>
          </a:p>
        </p:txBody>
      </p:sp>
      <p:pic>
        <p:nvPicPr>
          <p:cNvPr id="9" name="Picture 9"/>
          <p:cNvPicPr>
            <a:picLocks noChangeAspect="1"/>
          </p:cNvPicPr>
          <p:nvPr/>
        </p:nvPicPr>
        <p:blipFill>
          <a:blip r:embed="rId3"/>
          <a:srcRect/>
          <a:stretch>
            <a:fillRect/>
          </a:stretch>
        </p:blipFill>
        <p:spPr>
          <a:xfrm>
            <a:off x="14998667" y="624141"/>
            <a:ext cx="2260633" cy="8091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28700"/>
            <a:ext cx="18707100" cy="5334000"/>
            <a:chOff x="0" y="0"/>
            <a:chExt cx="24942800" cy="7112000"/>
          </a:xfrm>
        </p:grpSpPr>
        <p:sp>
          <p:nvSpPr>
            <p:cNvPr id="3" name="AutoShape 3"/>
            <p:cNvSpPr/>
            <p:nvPr/>
          </p:nvSpPr>
          <p:spPr>
            <a:xfrm>
              <a:off x="0" y="0"/>
              <a:ext cx="24942800" cy="7112000"/>
            </a:xfrm>
            <a:prstGeom prst="rect">
              <a:avLst/>
            </a:prstGeom>
            <a:solidFill>
              <a:srgbClr val="110B4B">
                <a:alpha val="89804"/>
              </a:srgbClr>
            </a:solidFill>
          </p:spPr>
          <p:txBody>
            <a:bodyPr/>
            <a:lstStyle/>
            <a:p>
              <a:endParaRPr lang="en-US"/>
            </a:p>
          </p:txBody>
        </p:sp>
        <p:sp>
          <p:nvSpPr>
            <p:cNvPr id="4" name="TextBox 4"/>
            <p:cNvSpPr txBox="1"/>
            <p:nvPr/>
          </p:nvSpPr>
          <p:spPr>
            <a:xfrm>
              <a:off x="1651000" y="2246625"/>
              <a:ext cx="20122873" cy="1571625"/>
            </a:xfrm>
            <a:prstGeom prst="rect">
              <a:avLst/>
            </a:prstGeom>
          </p:spPr>
          <p:txBody>
            <a:bodyPr lIns="0" tIns="0" rIns="0" bIns="0" rtlCol="0" anchor="t">
              <a:spAutoFit/>
            </a:bodyPr>
            <a:lstStyle/>
            <a:p>
              <a:pPr>
                <a:lnSpc>
                  <a:spcPts val="9450"/>
                </a:lnSpc>
              </a:pPr>
              <a:r>
                <a:rPr lang="en-US" sz="7500" spc="67">
                  <a:solidFill>
                    <a:srgbClr val="F8FBFD"/>
                  </a:solidFill>
                  <a:latin typeface="Montserrat Classic Bold"/>
                </a:rPr>
                <a:t>Actuarial Factor</a:t>
              </a:r>
            </a:p>
          </p:txBody>
        </p:sp>
        <p:sp>
          <p:nvSpPr>
            <p:cNvPr id="5" name="TextBox 5"/>
            <p:cNvSpPr txBox="1"/>
            <p:nvPr/>
          </p:nvSpPr>
          <p:spPr>
            <a:xfrm>
              <a:off x="1651000" y="1031875"/>
              <a:ext cx="18280477" cy="718145"/>
            </a:xfrm>
            <a:prstGeom prst="rect">
              <a:avLst/>
            </a:prstGeom>
          </p:spPr>
          <p:txBody>
            <a:bodyPr lIns="0" tIns="0" rIns="0" bIns="0" rtlCol="0" anchor="t">
              <a:spAutoFit/>
            </a:bodyPr>
            <a:lstStyle/>
            <a:p>
              <a:pPr>
                <a:lnSpc>
                  <a:spcPts val="4200"/>
                </a:lnSpc>
              </a:pPr>
              <a:r>
                <a:rPr lang="en-US" sz="3500" spc="259">
                  <a:solidFill>
                    <a:srgbClr val="F8FBFD"/>
                  </a:solidFill>
                  <a:latin typeface="Montserrat Classic"/>
                </a:rPr>
                <a:t>Introduction to</a:t>
              </a:r>
            </a:p>
          </p:txBody>
        </p:sp>
        <p:sp>
          <p:nvSpPr>
            <p:cNvPr id="6" name="TextBox 6"/>
            <p:cNvSpPr txBox="1"/>
            <p:nvPr/>
          </p:nvSpPr>
          <p:spPr>
            <a:xfrm>
              <a:off x="1651000" y="5368290"/>
              <a:ext cx="18483677" cy="702310"/>
            </a:xfrm>
            <a:prstGeom prst="rect">
              <a:avLst/>
            </a:prstGeom>
          </p:spPr>
          <p:txBody>
            <a:bodyPr lIns="0" tIns="0" rIns="0" bIns="0" rtlCol="0" anchor="t">
              <a:spAutoFit/>
            </a:bodyPr>
            <a:lstStyle/>
            <a:p>
              <a:pPr>
                <a:lnSpc>
                  <a:spcPts val="4590"/>
                </a:lnSpc>
              </a:pPr>
              <a:r>
                <a:rPr lang="en-US" sz="3000" spc="330">
                  <a:solidFill>
                    <a:srgbClr val="F8FBFD"/>
                  </a:solidFill>
                  <a:latin typeface="Montserrat Classic"/>
                </a:rPr>
                <a:t>History – Our Services - Team</a:t>
              </a:r>
            </a:p>
          </p:txBody>
        </p:sp>
        <p:sp>
          <p:nvSpPr>
            <p:cNvPr id="7" name="AutoShape 7"/>
            <p:cNvSpPr/>
            <p:nvPr/>
          </p:nvSpPr>
          <p:spPr>
            <a:xfrm>
              <a:off x="1651000" y="4525000"/>
              <a:ext cx="5915653" cy="231790"/>
            </a:xfrm>
            <a:prstGeom prst="rect">
              <a:avLst/>
            </a:prstGeom>
            <a:solidFill>
              <a:srgbClr val="F8FBFD"/>
            </a:solidFill>
          </p:spPr>
          <p:txBody>
            <a:bodyPr/>
            <a:lstStyle/>
            <a:p>
              <a:endParaRPr lang="en-US"/>
            </a:p>
          </p:txBody>
        </p:sp>
      </p:grpSp>
      <p:pic>
        <p:nvPicPr>
          <p:cNvPr id="8" name="Picture 8"/>
          <p:cNvPicPr>
            <a:picLocks noChangeAspect="1"/>
          </p:cNvPicPr>
          <p:nvPr/>
        </p:nvPicPr>
        <p:blipFill>
          <a:blip r:embed="rId2"/>
          <a:srcRect/>
          <a:stretch>
            <a:fillRect/>
          </a:stretch>
        </p:blipFill>
        <p:spPr>
          <a:xfrm>
            <a:off x="14998667" y="1120140"/>
            <a:ext cx="2260633" cy="8091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0B4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5958546" cy="3524657"/>
            <a:chOff x="0" y="0"/>
            <a:chExt cx="4203074" cy="928305"/>
          </a:xfrm>
        </p:grpSpPr>
        <p:sp>
          <p:nvSpPr>
            <p:cNvPr id="3" name="Freeform 3"/>
            <p:cNvSpPr/>
            <p:nvPr/>
          </p:nvSpPr>
          <p:spPr>
            <a:xfrm>
              <a:off x="0" y="0"/>
              <a:ext cx="4203074" cy="928305"/>
            </a:xfrm>
            <a:custGeom>
              <a:avLst/>
              <a:gdLst/>
              <a:ahLst/>
              <a:cxnLst/>
              <a:rect l="l" t="t" r="r" b="b"/>
              <a:pathLst>
                <a:path w="4203074" h="928305">
                  <a:moveTo>
                    <a:pt x="0" y="0"/>
                  </a:moveTo>
                  <a:lnTo>
                    <a:pt x="4203074" y="0"/>
                  </a:lnTo>
                  <a:lnTo>
                    <a:pt x="4203074" y="928305"/>
                  </a:lnTo>
                  <a:lnTo>
                    <a:pt x="0" y="928305"/>
                  </a:lnTo>
                  <a:close/>
                </a:path>
              </a:pathLst>
            </a:custGeom>
            <a:solidFill>
              <a:srgbClr val="F8FBFD"/>
            </a:solidFill>
          </p:spPr>
          <p:txBody>
            <a:bodyPr/>
            <a:lstStyle/>
            <a:p>
              <a:endParaRPr lang="en-US"/>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3749"/>
                </a:lnSpc>
              </a:pPr>
              <a:endParaRPr/>
            </a:p>
          </p:txBody>
        </p:sp>
      </p:grpSp>
      <p:sp>
        <p:nvSpPr>
          <p:cNvPr id="5" name="AutoShape 5"/>
          <p:cNvSpPr/>
          <p:nvPr/>
        </p:nvSpPr>
        <p:spPr>
          <a:xfrm>
            <a:off x="1028700" y="1028700"/>
            <a:ext cx="15958546" cy="8229600"/>
          </a:xfrm>
          <a:prstGeom prst="rect">
            <a:avLst/>
          </a:prstGeom>
          <a:solidFill>
            <a:srgbClr val="F8FBFD">
              <a:alpha val="81961"/>
            </a:srgbClr>
          </a:solidFill>
        </p:spPr>
        <p:txBody>
          <a:bodyPr/>
          <a:lstStyle/>
          <a:p>
            <a:endParaRPr lang="en-US"/>
          </a:p>
        </p:txBody>
      </p:sp>
      <p:grpSp>
        <p:nvGrpSpPr>
          <p:cNvPr id="6" name="Group 6"/>
          <p:cNvGrpSpPr/>
          <p:nvPr/>
        </p:nvGrpSpPr>
        <p:grpSpPr>
          <a:xfrm>
            <a:off x="1742403" y="1614225"/>
            <a:ext cx="9224755" cy="2608872"/>
            <a:chOff x="0" y="-47625"/>
            <a:chExt cx="12299673" cy="3478495"/>
          </a:xfrm>
        </p:grpSpPr>
        <p:sp>
          <p:nvSpPr>
            <p:cNvPr id="7" name="TextBox 7"/>
            <p:cNvSpPr txBox="1"/>
            <p:nvPr/>
          </p:nvSpPr>
          <p:spPr>
            <a:xfrm>
              <a:off x="0" y="2712725"/>
              <a:ext cx="12286077" cy="718145"/>
            </a:xfrm>
            <a:prstGeom prst="rect">
              <a:avLst/>
            </a:prstGeom>
          </p:spPr>
          <p:txBody>
            <a:bodyPr lIns="0" tIns="0" rIns="0" bIns="0" rtlCol="0" anchor="t">
              <a:spAutoFit/>
            </a:bodyPr>
            <a:lstStyle/>
            <a:p>
              <a:pPr>
                <a:lnSpc>
                  <a:spcPts val="4200"/>
                </a:lnSpc>
              </a:pPr>
              <a:endParaRPr lang="en-US" sz="3500" spc="259">
                <a:solidFill>
                  <a:srgbClr val="110B4B"/>
                </a:solidFill>
                <a:latin typeface="Montserrat Classic Bold"/>
              </a:endParaRPr>
            </a:p>
          </p:txBody>
        </p:sp>
        <p:sp>
          <p:nvSpPr>
            <p:cNvPr id="8" name="TextBox 8"/>
            <p:cNvSpPr txBox="1"/>
            <p:nvPr/>
          </p:nvSpPr>
          <p:spPr>
            <a:xfrm>
              <a:off x="0" y="-47625"/>
              <a:ext cx="12299673" cy="1467068"/>
            </a:xfrm>
            <a:prstGeom prst="rect">
              <a:avLst/>
            </a:prstGeom>
          </p:spPr>
          <p:txBody>
            <a:bodyPr lIns="0" tIns="0" rIns="0" bIns="0" rtlCol="0" anchor="t">
              <a:spAutoFit/>
            </a:bodyPr>
            <a:lstStyle/>
            <a:p>
              <a:pPr>
                <a:lnSpc>
                  <a:spcPts val="9450"/>
                </a:lnSpc>
              </a:pPr>
              <a:r>
                <a:rPr lang="en-US" sz="7500" spc="67" dirty="0">
                  <a:solidFill>
                    <a:srgbClr val="110B4B"/>
                  </a:solidFill>
                  <a:latin typeface="Montserrat Classic Bold"/>
                </a:rPr>
                <a:t>Actuarial Factor</a:t>
              </a:r>
            </a:p>
          </p:txBody>
        </p:sp>
        <p:sp>
          <p:nvSpPr>
            <p:cNvPr id="9" name="AutoShape 9"/>
            <p:cNvSpPr/>
            <p:nvPr/>
          </p:nvSpPr>
          <p:spPr>
            <a:xfrm>
              <a:off x="0" y="2007230"/>
              <a:ext cx="5915653" cy="231790"/>
            </a:xfrm>
            <a:prstGeom prst="rect">
              <a:avLst/>
            </a:prstGeom>
            <a:solidFill>
              <a:srgbClr val="110B4B"/>
            </a:solidFill>
          </p:spPr>
          <p:txBody>
            <a:bodyPr/>
            <a:lstStyle/>
            <a:p>
              <a:endParaRPr lang="en-US"/>
            </a:p>
          </p:txBody>
        </p:sp>
      </p:grpSp>
      <p:pic>
        <p:nvPicPr>
          <p:cNvPr id="10" name="Picture 10"/>
          <p:cNvPicPr>
            <a:picLocks noChangeAspect="1"/>
          </p:cNvPicPr>
          <p:nvPr/>
        </p:nvPicPr>
        <p:blipFill>
          <a:blip r:embed="rId2"/>
          <a:srcRect/>
          <a:stretch>
            <a:fillRect/>
          </a:stretch>
        </p:blipFill>
        <p:spPr>
          <a:xfrm>
            <a:off x="14726613" y="1134242"/>
            <a:ext cx="2260633" cy="809118"/>
          </a:xfrm>
          <a:prstGeom prst="rect">
            <a:avLst/>
          </a:prstGeom>
        </p:spPr>
      </p:pic>
      <p:grpSp>
        <p:nvGrpSpPr>
          <p:cNvPr id="14" name="Group 14"/>
          <p:cNvGrpSpPr/>
          <p:nvPr/>
        </p:nvGrpSpPr>
        <p:grpSpPr>
          <a:xfrm>
            <a:off x="1742403" y="4355353"/>
            <a:ext cx="14564397" cy="5836356"/>
            <a:chOff x="-26731" y="-95250"/>
            <a:chExt cx="12326404" cy="5431649"/>
          </a:xfrm>
        </p:grpSpPr>
        <p:sp>
          <p:nvSpPr>
            <p:cNvPr id="15" name="TextBox 15"/>
            <p:cNvSpPr txBox="1"/>
            <p:nvPr/>
          </p:nvSpPr>
          <p:spPr>
            <a:xfrm>
              <a:off x="0" y="-95250"/>
              <a:ext cx="12299673" cy="468440"/>
            </a:xfrm>
            <a:prstGeom prst="rect">
              <a:avLst/>
            </a:prstGeom>
          </p:spPr>
          <p:txBody>
            <a:bodyPr lIns="0" tIns="0" rIns="0" bIns="0" rtlCol="0" anchor="t">
              <a:spAutoFit/>
            </a:bodyPr>
            <a:lstStyle/>
            <a:p>
              <a:pPr>
                <a:lnSpc>
                  <a:spcPts val="4590"/>
                </a:lnSpc>
              </a:pPr>
              <a:endParaRPr lang="es-MX"/>
            </a:p>
          </p:txBody>
        </p:sp>
        <p:sp>
          <p:nvSpPr>
            <p:cNvPr id="16" name="TextBox 16"/>
            <p:cNvSpPr txBox="1"/>
            <p:nvPr/>
          </p:nvSpPr>
          <p:spPr>
            <a:xfrm>
              <a:off x="-26731" y="11520"/>
              <a:ext cx="12326404" cy="5324879"/>
            </a:xfrm>
            <a:prstGeom prst="rect">
              <a:avLst/>
            </a:prstGeom>
          </p:spPr>
          <p:txBody>
            <a:bodyPr wrap="square" lIns="0" tIns="0" rIns="0" bIns="0" rtlCol="0" anchor="t">
              <a:spAutoFit/>
            </a:bodyPr>
            <a:lstStyle/>
            <a:p>
              <a:pPr algn="just">
                <a:lnSpc>
                  <a:spcPts val="4500"/>
                </a:lnSpc>
              </a:pPr>
              <a:r>
                <a:rPr lang="en-US" sz="2600" b="1" spc="30" dirty="0">
                  <a:solidFill>
                    <a:srgbClr val="110B4B"/>
                  </a:solidFill>
                  <a:latin typeface="Montserrat Light"/>
                </a:rPr>
                <a:t>Actuarial Factor is an independent actuarial consulting firm, founded in 2014, with the mission of delivering first-class quality, innovative, tailored, expert and independent actuarial solutions for our clients to comply with the insurance laws and regulations and exceed their business needs. We serve every line of business across all jurisdictions in the United States (including Puerto Rico), Latin America, and the Caribbean. Actuarial Factor specializes in property and casualty (re)insurance companies, self-insured corporations and captive insurance companies.</a:t>
              </a:r>
            </a:p>
            <a:p>
              <a:pPr algn="just">
                <a:lnSpc>
                  <a:spcPts val="4500"/>
                </a:lnSpc>
              </a:pPr>
              <a:r>
                <a:rPr lang="en-US" sz="2600" b="1" spc="30" dirty="0">
                  <a:solidFill>
                    <a:srgbClr val="110B4B"/>
                  </a:solidFill>
                  <a:latin typeface="Montserrat Light"/>
                </a:rPr>
                <a:t>We have as customers Fortune 500 companies.</a:t>
              </a:r>
            </a:p>
            <a:p>
              <a:pPr algn="just">
                <a:lnSpc>
                  <a:spcPts val="4500"/>
                </a:lnSpc>
              </a:pPr>
              <a:endParaRPr lang="en-US" sz="2400" spc="30" dirty="0">
                <a:solidFill>
                  <a:srgbClr val="110B4B"/>
                </a:solidFill>
                <a:latin typeface="Montserrat Light"/>
              </a:endParaRPr>
            </a:p>
            <a:p>
              <a:pPr algn="just">
                <a:lnSpc>
                  <a:spcPts val="4500"/>
                </a:lnSpc>
              </a:pPr>
              <a:endParaRPr lang="en-US" sz="3000" spc="30" dirty="0">
                <a:solidFill>
                  <a:srgbClr val="110B4B"/>
                </a:solidFill>
                <a:latin typeface="Montserrat Ligh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2BE73-396E-BD60-A9FB-0FA90E83AE7E}"/>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E9E3D631-4A59-6616-DF97-6772CB8380F4}"/>
              </a:ext>
            </a:extLst>
          </p:cNvPr>
          <p:cNvSpPr/>
          <p:nvPr/>
        </p:nvSpPr>
        <p:spPr>
          <a:xfrm>
            <a:off x="-266700" y="3289126"/>
            <a:ext cx="18821400" cy="7467600"/>
          </a:xfrm>
          <a:prstGeom prst="rect">
            <a:avLst/>
          </a:prstGeom>
          <a:solidFill>
            <a:srgbClr val="110B4B">
              <a:alpha val="89804"/>
            </a:srgbClr>
          </a:solidFill>
        </p:spPr>
        <p:txBody>
          <a:bodyPr/>
          <a:lstStyle/>
          <a:p>
            <a:endParaRPr lang="en-US"/>
          </a:p>
        </p:txBody>
      </p:sp>
      <p:sp>
        <p:nvSpPr>
          <p:cNvPr id="4" name="AutoShape 4">
            <a:extLst>
              <a:ext uri="{FF2B5EF4-FFF2-40B4-BE49-F238E27FC236}">
                <a16:creationId xmlns:a16="http://schemas.microsoft.com/office/drawing/2014/main" id="{B54ADAF8-7165-BF3E-4EDE-91DC61F7C33D}"/>
              </a:ext>
            </a:extLst>
          </p:cNvPr>
          <p:cNvSpPr/>
          <p:nvPr/>
        </p:nvSpPr>
        <p:spPr>
          <a:xfrm>
            <a:off x="1394301" y="4176400"/>
            <a:ext cx="7318021" cy="5230247"/>
          </a:xfrm>
          <a:prstGeom prst="rect">
            <a:avLst/>
          </a:prstGeom>
          <a:solidFill>
            <a:srgbClr val="F8FBFD"/>
          </a:solidFill>
        </p:spPr>
        <p:txBody>
          <a:bodyPr/>
          <a:lstStyle/>
          <a:p>
            <a:endParaRPr lang="en-US"/>
          </a:p>
        </p:txBody>
      </p:sp>
      <p:sp>
        <p:nvSpPr>
          <p:cNvPr id="5" name="AutoShape 5">
            <a:extLst>
              <a:ext uri="{FF2B5EF4-FFF2-40B4-BE49-F238E27FC236}">
                <a16:creationId xmlns:a16="http://schemas.microsoft.com/office/drawing/2014/main" id="{305F3DA5-29EF-6AC2-5998-A192652FCFA4}"/>
              </a:ext>
            </a:extLst>
          </p:cNvPr>
          <p:cNvSpPr/>
          <p:nvPr/>
        </p:nvSpPr>
        <p:spPr>
          <a:xfrm>
            <a:off x="1394302" y="4305300"/>
            <a:ext cx="7318020" cy="1419299"/>
          </a:xfrm>
          <a:prstGeom prst="rect">
            <a:avLst/>
          </a:prstGeom>
          <a:solidFill>
            <a:srgbClr val="110B4B">
              <a:alpha val="19608"/>
            </a:srgbClr>
          </a:solidFill>
        </p:spPr>
        <p:txBody>
          <a:bodyPr/>
          <a:lstStyle/>
          <a:p>
            <a:endParaRPr lang="en-US"/>
          </a:p>
        </p:txBody>
      </p:sp>
      <p:sp>
        <p:nvSpPr>
          <p:cNvPr id="7" name="TextBox 7">
            <a:extLst>
              <a:ext uri="{FF2B5EF4-FFF2-40B4-BE49-F238E27FC236}">
                <a16:creationId xmlns:a16="http://schemas.microsoft.com/office/drawing/2014/main" id="{B60BF81A-2AC4-7BEC-0BF1-33E8F26EE9B4}"/>
              </a:ext>
            </a:extLst>
          </p:cNvPr>
          <p:cNvSpPr txBox="1"/>
          <p:nvPr/>
        </p:nvSpPr>
        <p:spPr>
          <a:xfrm>
            <a:off x="1467841" y="6597440"/>
            <a:ext cx="7170939" cy="1419299"/>
          </a:xfrm>
          <a:prstGeom prst="rect">
            <a:avLst/>
          </a:prstGeom>
        </p:spPr>
        <p:txBody>
          <a:bodyPr wrap="square" lIns="0" tIns="0" rIns="0" bIns="0" rtlCol="0" anchor="t">
            <a:spAutoFit/>
          </a:bodyPr>
          <a:lstStyle/>
          <a:p>
            <a:pPr algn="ctr">
              <a:lnSpc>
                <a:spcPts val="3750"/>
              </a:lnSpc>
            </a:pPr>
            <a:r>
              <a:rPr lang="en-US" sz="2500" spc="25" dirty="0">
                <a:solidFill>
                  <a:srgbClr val="110B4B"/>
                </a:solidFill>
                <a:latin typeface="Montserrat Light"/>
              </a:rPr>
              <a:t>To be globally recognized as an expert actuarial partner and beyond providing excellent tailored solutions.</a:t>
            </a:r>
          </a:p>
        </p:txBody>
      </p:sp>
      <p:sp>
        <p:nvSpPr>
          <p:cNvPr id="8" name="AutoShape 8">
            <a:extLst>
              <a:ext uri="{FF2B5EF4-FFF2-40B4-BE49-F238E27FC236}">
                <a16:creationId xmlns:a16="http://schemas.microsoft.com/office/drawing/2014/main" id="{23E44055-A4B0-A437-D154-4023C8EA6859}"/>
              </a:ext>
            </a:extLst>
          </p:cNvPr>
          <p:cNvSpPr/>
          <p:nvPr/>
        </p:nvSpPr>
        <p:spPr>
          <a:xfrm>
            <a:off x="8820981" y="4176400"/>
            <a:ext cx="7318021" cy="5230247"/>
          </a:xfrm>
          <a:prstGeom prst="rect">
            <a:avLst/>
          </a:prstGeom>
          <a:solidFill>
            <a:srgbClr val="F8FBFD"/>
          </a:solidFill>
        </p:spPr>
        <p:txBody>
          <a:bodyPr/>
          <a:lstStyle/>
          <a:p>
            <a:endParaRPr lang="en-US"/>
          </a:p>
        </p:txBody>
      </p:sp>
      <p:sp>
        <p:nvSpPr>
          <p:cNvPr id="9" name="AutoShape 9">
            <a:extLst>
              <a:ext uri="{FF2B5EF4-FFF2-40B4-BE49-F238E27FC236}">
                <a16:creationId xmlns:a16="http://schemas.microsoft.com/office/drawing/2014/main" id="{5CAFD45A-5406-FDCF-7A0A-C80CDA30593E}"/>
              </a:ext>
            </a:extLst>
          </p:cNvPr>
          <p:cNvSpPr/>
          <p:nvPr/>
        </p:nvSpPr>
        <p:spPr>
          <a:xfrm>
            <a:off x="8929640" y="4267200"/>
            <a:ext cx="7318021" cy="1462859"/>
          </a:xfrm>
          <a:prstGeom prst="rect">
            <a:avLst/>
          </a:prstGeom>
          <a:solidFill>
            <a:srgbClr val="110B4B">
              <a:alpha val="19608"/>
            </a:srgbClr>
          </a:solidFill>
        </p:spPr>
        <p:txBody>
          <a:bodyPr/>
          <a:lstStyle/>
          <a:p>
            <a:endParaRPr lang="en-US"/>
          </a:p>
        </p:txBody>
      </p:sp>
      <p:sp>
        <p:nvSpPr>
          <p:cNvPr id="11" name="TextBox 11">
            <a:extLst>
              <a:ext uri="{FF2B5EF4-FFF2-40B4-BE49-F238E27FC236}">
                <a16:creationId xmlns:a16="http://schemas.microsoft.com/office/drawing/2014/main" id="{D55B7807-BE8A-9720-940C-043832B5518F}"/>
              </a:ext>
            </a:extLst>
          </p:cNvPr>
          <p:cNvSpPr txBox="1"/>
          <p:nvPr/>
        </p:nvSpPr>
        <p:spPr>
          <a:xfrm>
            <a:off x="9221825" y="5791591"/>
            <a:ext cx="6789907" cy="3368551"/>
          </a:xfrm>
          <a:prstGeom prst="rect">
            <a:avLst/>
          </a:prstGeom>
        </p:spPr>
        <p:txBody>
          <a:bodyPr wrap="square" lIns="0" tIns="0" rIns="0" bIns="0" rtlCol="0" anchor="t">
            <a:spAutoFit/>
          </a:bodyPr>
          <a:lstStyle/>
          <a:p>
            <a:pPr algn="ctr">
              <a:lnSpc>
                <a:spcPts val="3750"/>
              </a:lnSpc>
            </a:pPr>
            <a:r>
              <a:rPr lang="en-US" sz="2500" spc="25" dirty="0">
                <a:solidFill>
                  <a:srgbClr val="110B4B"/>
                </a:solidFill>
                <a:latin typeface="Montserrat Light"/>
              </a:rPr>
              <a:t>Professionalism</a:t>
            </a:r>
          </a:p>
          <a:p>
            <a:pPr algn="ctr">
              <a:lnSpc>
                <a:spcPts val="3750"/>
              </a:lnSpc>
            </a:pPr>
            <a:r>
              <a:rPr lang="en-US" sz="2500" spc="25" dirty="0">
                <a:solidFill>
                  <a:srgbClr val="110B4B"/>
                </a:solidFill>
                <a:latin typeface="Montserrat Light"/>
              </a:rPr>
              <a:t>Integrity</a:t>
            </a:r>
          </a:p>
          <a:p>
            <a:pPr algn="ctr">
              <a:lnSpc>
                <a:spcPts val="3750"/>
              </a:lnSpc>
            </a:pPr>
            <a:r>
              <a:rPr lang="en-US" sz="2500" spc="25" dirty="0">
                <a:solidFill>
                  <a:srgbClr val="110B4B"/>
                </a:solidFill>
                <a:latin typeface="Montserrat Light"/>
              </a:rPr>
              <a:t>Respect</a:t>
            </a:r>
          </a:p>
          <a:p>
            <a:pPr algn="ctr">
              <a:lnSpc>
                <a:spcPts val="3750"/>
              </a:lnSpc>
            </a:pPr>
            <a:r>
              <a:rPr lang="en-US" sz="2500" spc="25" dirty="0">
                <a:solidFill>
                  <a:srgbClr val="110B4B"/>
                </a:solidFill>
                <a:latin typeface="Montserrat Light"/>
              </a:rPr>
              <a:t>Excellence</a:t>
            </a:r>
          </a:p>
          <a:p>
            <a:pPr algn="ctr">
              <a:lnSpc>
                <a:spcPts val="3750"/>
              </a:lnSpc>
            </a:pPr>
            <a:r>
              <a:rPr lang="en-US" sz="2500" spc="25" dirty="0">
                <a:solidFill>
                  <a:srgbClr val="110B4B"/>
                </a:solidFill>
                <a:latin typeface="Montserrat Light"/>
              </a:rPr>
              <a:t>Passion</a:t>
            </a:r>
          </a:p>
          <a:p>
            <a:pPr algn="ctr">
              <a:lnSpc>
                <a:spcPts val="3750"/>
              </a:lnSpc>
            </a:pPr>
            <a:r>
              <a:rPr lang="en-US" sz="2500" spc="25" dirty="0">
                <a:solidFill>
                  <a:srgbClr val="110B4B"/>
                </a:solidFill>
                <a:latin typeface="Montserrat Light"/>
              </a:rPr>
              <a:t>Innovation</a:t>
            </a:r>
          </a:p>
          <a:p>
            <a:pPr algn="ctr">
              <a:lnSpc>
                <a:spcPts val="3750"/>
              </a:lnSpc>
            </a:pPr>
            <a:r>
              <a:rPr lang="en-US" sz="2500" spc="25" dirty="0">
                <a:solidFill>
                  <a:srgbClr val="110B4B"/>
                </a:solidFill>
                <a:latin typeface="Montserrat Light"/>
              </a:rPr>
              <a:t>Empowerment</a:t>
            </a:r>
          </a:p>
        </p:txBody>
      </p:sp>
      <p:pic>
        <p:nvPicPr>
          <p:cNvPr id="20" name="Picture 20">
            <a:extLst>
              <a:ext uri="{FF2B5EF4-FFF2-40B4-BE49-F238E27FC236}">
                <a16:creationId xmlns:a16="http://schemas.microsoft.com/office/drawing/2014/main" id="{5B4BA2F4-7BFE-BA4E-F109-252D38645FE2}"/>
              </a:ext>
            </a:extLst>
          </p:cNvPr>
          <p:cNvPicPr>
            <a:picLocks noChangeAspect="1"/>
          </p:cNvPicPr>
          <p:nvPr/>
        </p:nvPicPr>
        <p:blipFill>
          <a:blip r:embed="rId2"/>
          <a:srcRect/>
          <a:stretch>
            <a:fillRect/>
          </a:stretch>
        </p:blipFill>
        <p:spPr>
          <a:xfrm>
            <a:off x="15856568" y="624141"/>
            <a:ext cx="2260633" cy="809118"/>
          </a:xfrm>
          <a:prstGeom prst="rect">
            <a:avLst/>
          </a:prstGeom>
        </p:spPr>
      </p:pic>
      <p:sp>
        <p:nvSpPr>
          <p:cNvPr id="21" name="TextBox 14">
            <a:extLst>
              <a:ext uri="{FF2B5EF4-FFF2-40B4-BE49-F238E27FC236}">
                <a16:creationId xmlns:a16="http://schemas.microsoft.com/office/drawing/2014/main" id="{496E2D5B-5B29-5BA3-038F-B41F081E1FE4}"/>
              </a:ext>
            </a:extLst>
          </p:cNvPr>
          <p:cNvSpPr txBox="1"/>
          <p:nvPr/>
        </p:nvSpPr>
        <p:spPr>
          <a:xfrm>
            <a:off x="1587623" y="4738438"/>
            <a:ext cx="7170938" cy="517065"/>
          </a:xfrm>
          <a:prstGeom prst="rect">
            <a:avLst/>
          </a:prstGeom>
        </p:spPr>
        <p:txBody>
          <a:bodyPr wrap="square" lIns="0" tIns="0" rIns="0" bIns="0" rtlCol="0" anchor="t">
            <a:spAutoFit/>
          </a:bodyPr>
          <a:lstStyle/>
          <a:p>
            <a:pPr algn="ctr">
              <a:lnSpc>
                <a:spcPts val="4590"/>
              </a:lnSpc>
            </a:pPr>
            <a:r>
              <a:rPr lang="en-US" sz="3000" spc="330" dirty="0">
                <a:solidFill>
                  <a:srgbClr val="110B4B"/>
                </a:solidFill>
                <a:latin typeface="Montserrat Classic"/>
              </a:rPr>
              <a:t>Vision</a:t>
            </a:r>
            <a:endParaRPr lang="en-US" sz="3000" b="1" spc="330" dirty="0">
              <a:solidFill>
                <a:srgbClr val="110B4B"/>
              </a:solidFill>
              <a:latin typeface="Montserrat Classic"/>
            </a:endParaRPr>
          </a:p>
        </p:txBody>
      </p:sp>
      <p:sp>
        <p:nvSpPr>
          <p:cNvPr id="22" name="TextBox 14">
            <a:extLst>
              <a:ext uri="{FF2B5EF4-FFF2-40B4-BE49-F238E27FC236}">
                <a16:creationId xmlns:a16="http://schemas.microsoft.com/office/drawing/2014/main" id="{B109F17A-AB42-3613-D05B-D5482A3CCAAC}"/>
              </a:ext>
            </a:extLst>
          </p:cNvPr>
          <p:cNvSpPr txBox="1"/>
          <p:nvPr/>
        </p:nvSpPr>
        <p:spPr>
          <a:xfrm>
            <a:off x="9358432" y="4699558"/>
            <a:ext cx="6653299" cy="517065"/>
          </a:xfrm>
          <a:prstGeom prst="rect">
            <a:avLst/>
          </a:prstGeom>
        </p:spPr>
        <p:txBody>
          <a:bodyPr wrap="square" lIns="0" tIns="0" rIns="0" bIns="0" rtlCol="0" anchor="t">
            <a:spAutoFit/>
          </a:bodyPr>
          <a:lstStyle/>
          <a:p>
            <a:pPr algn="ctr">
              <a:lnSpc>
                <a:spcPts val="4590"/>
              </a:lnSpc>
            </a:pPr>
            <a:r>
              <a:rPr lang="en-US" sz="3000" spc="330" dirty="0">
                <a:solidFill>
                  <a:srgbClr val="110B4B"/>
                </a:solidFill>
                <a:latin typeface="Montserrat Classic"/>
              </a:rPr>
              <a:t>Core Values</a:t>
            </a:r>
            <a:endParaRPr lang="en-US" sz="3000" b="1" spc="330" dirty="0">
              <a:solidFill>
                <a:srgbClr val="110B4B"/>
              </a:solidFill>
              <a:latin typeface="Montserrat Classic"/>
            </a:endParaRPr>
          </a:p>
        </p:txBody>
      </p:sp>
      <p:grpSp>
        <p:nvGrpSpPr>
          <p:cNvPr id="15" name="Group 6">
            <a:extLst>
              <a:ext uri="{FF2B5EF4-FFF2-40B4-BE49-F238E27FC236}">
                <a16:creationId xmlns:a16="http://schemas.microsoft.com/office/drawing/2014/main" id="{0FD247C5-7604-D875-85DC-9906EEED20EC}"/>
              </a:ext>
            </a:extLst>
          </p:cNvPr>
          <p:cNvGrpSpPr/>
          <p:nvPr/>
        </p:nvGrpSpPr>
        <p:grpSpPr>
          <a:xfrm>
            <a:off x="815970" y="880353"/>
            <a:ext cx="9224755" cy="2608872"/>
            <a:chOff x="0" y="-47625"/>
            <a:chExt cx="12299673" cy="3478495"/>
          </a:xfrm>
        </p:grpSpPr>
        <p:sp>
          <p:nvSpPr>
            <p:cNvPr id="16" name="TextBox 7">
              <a:extLst>
                <a:ext uri="{FF2B5EF4-FFF2-40B4-BE49-F238E27FC236}">
                  <a16:creationId xmlns:a16="http://schemas.microsoft.com/office/drawing/2014/main" id="{4CCEEC9E-7102-465D-8CF9-BAC0DDD221D9}"/>
                </a:ext>
              </a:extLst>
            </p:cNvPr>
            <p:cNvSpPr txBox="1"/>
            <p:nvPr/>
          </p:nvSpPr>
          <p:spPr>
            <a:xfrm>
              <a:off x="0" y="2712725"/>
              <a:ext cx="12286077" cy="718145"/>
            </a:xfrm>
            <a:prstGeom prst="rect">
              <a:avLst/>
            </a:prstGeom>
          </p:spPr>
          <p:txBody>
            <a:bodyPr lIns="0" tIns="0" rIns="0" bIns="0" rtlCol="0" anchor="t">
              <a:spAutoFit/>
            </a:bodyPr>
            <a:lstStyle/>
            <a:p>
              <a:pPr>
                <a:lnSpc>
                  <a:spcPts val="4200"/>
                </a:lnSpc>
              </a:pPr>
              <a:endParaRPr lang="en-US" sz="3500" spc="259">
                <a:solidFill>
                  <a:srgbClr val="110B4B"/>
                </a:solidFill>
                <a:latin typeface="Montserrat Classic Bold"/>
              </a:endParaRPr>
            </a:p>
          </p:txBody>
        </p:sp>
        <p:sp>
          <p:nvSpPr>
            <p:cNvPr id="17" name="TextBox 8">
              <a:extLst>
                <a:ext uri="{FF2B5EF4-FFF2-40B4-BE49-F238E27FC236}">
                  <a16:creationId xmlns:a16="http://schemas.microsoft.com/office/drawing/2014/main" id="{4C31242F-B7CC-0716-6E0B-3F493A30D992}"/>
                </a:ext>
              </a:extLst>
            </p:cNvPr>
            <p:cNvSpPr txBox="1"/>
            <p:nvPr/>
          </p:nvSpPr>
          <p:spPr>
            <a:xfrm>
              <a:off x="0" y="-47625"/>
              <a:ext cx="12299673" cy="1467068"/>
            </a:xfrm>
            <a:prstGeom prst="rect">
              <a:avLst/>
            </a:prstGeom>
          </p:spPr>
          <p:txBody>
            <a:bodyPr lIns="0" tIns="0" rIns="0" bIns="0" rtlCol="0" anchor="t">
              <a:spAutoFit/>
            </a:bodyPr>
            <a:lstStyle/>
            <a:p>
              <a:pPr>
                <a:lnSpc>
                  <a:spcPts val="9450"/>
                </a:lnSpc>
              </a:pPr>
              <a:r>
                <a:rPr lang="en-US" sz="7500" spc="67" dirty="0">
                  <a:solidFill>
                    <a:srgbClr val="110B4B"/>
                  </a:solidFill>
                  <a:latin typeface="Montserrat Classic Bold"/>
                </a:rPr>
                <a:t>Actuarial Factor</a:t>
              </a:r>
            </a:p>
          </p:txBody>
        </p:sp>
        <p:sp>
          <p:nvSpPr>
            <p:cNvPr id="18" name="AutoShape 9">
              <a:extLst>
                <a:ext uri="{FF2B5EF4-FFF2-40B4-BE49-F238E27FC236}">
                  <a16:creationId xmlns:a16="http://schemas.microsoft.com/office/drawing/2014/main" id="{3586FB2B-D361-04D2-DCB6-9C6D7D057B33}"/>
                </a:ext>
              </a:extLst>
            </p:cNvPr>
            <p:cNvSpPr/>
            <p:nvPr/>
          </p:nvSpPr>
          <p:spPr>
            <a:xfrm>
              <a:off x="0" y="2007230"/>
              <a:ext cx="5915653" cy="231790"/>
            </a:xfrm>
            <a:prstGeom prst="rect">
              <a:avLst/>
            </a:prstGeom>
            <a:solidFill>
              <a:srgbClr val="110B4B"/>
            </a:solidFill>
          </p:spPr>
          <p:txBody>
            <a:bodyPr/>
            <a:lstStyle/>
            <a:p>
              <a:endParaRPr lang="en-US"/>
            </a:p>
          </p:txBody>
        </p:sp>
      </p:grpSp>
    </p:spTree>
    <p:extLst>
      <p:ext uri="{BB962C8B-B14F-4D97-AF65-F5344CB8AC3E}">
        <p14:creationId xmlns:p14="http://schemas.microsoft.com/office/powerpoint/2010/main" val="3830091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5958546" cy="3524657"/>
            <a:chOff x="0" y="0"/>
            <a:chExt cx="4203074" cy="928305"/>
          </a:xfrm>
        </p:grpSpPr>
        <p:sp>
          <p:nvSpPr>
            <p:cNvPr id="3" name="Freeform 3"/>
            <p:cNvSpPr/>
            <p:nvPr/>
          </p:nvSpPr>
          <p:spPr>
            <a:xfrm>
              <a:off x="0" y="0"/>
              <a:ext cx="4203074" cy="928305"/>
            </a:xfrm>
            <a:custGeom>
              <a:avLst/>
              <a:gdLst/>
              <a:ahLst/>
              <a:cxnLst/>
              <a:rect l="l" t="t" r="r" b="b"/>
              <a:pathLst>
                <a:path w="4203074" h="928305">
                  <a:moveTo>
                    <a:pt x="0" y="0"/>
                  </a:moveTo>
                  <a:lnTo>
                    <a:pt x="4203074" y="0"/>
                  </a:lnTo>
                  <a:lnTo>
                    <a:pt x="4203074" y="928305"/>
                  </a:lnTo>
                  <a:lnTo>
                    <a:pt x="0" y="928305"/>
                  </a:lnTo>
                  <a:close/>
                </a:path>
              </a:pathLst>
            </a:custGeom>
            <a:solidFill>
              <a:srgbClr val="F8FBFD"/>
            </a:solidFill>
          </p:spPr>
          <p:txBody>
            <a:bodyPr/>
            <a:lstStyle/>
            <a:p>
              <a:endParaRPr lang="en-US"/>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3749"/>
                </a:lnSpc>
              </a:pPr>
              <a:endParaRPr/>
            </a:p>
          </p:txBody>
        </p:sp>
      </p:grpSp>
      <p:sp>
        <p:nvSpPr>
          <p:cNvPr id="5" name="AutoShape 5"/>
          <p:cNvSpPr/>
          <p:nvPr/>
        </p:nvSpPr>
        <p:spPr>
          <a:xfrm>
            <a:off x="1028700" y="923158"/>
            <a:ext cx="15958546" cy="8229600"/>
          </a:xfrm>
          <a:prstGeom prst="rect">
            <a:avLst/>
          </a:prstGeom>
          <a:solidFill>
            <a:schemeClr val="bg1">
              <a:alpha val="81961"/>
            </a:schemeClr>
          </a:solidFill>
        </p:spPr>
        <p:txBody>
          <a:bodyPr/>
          <a:lstStyle/>
          <a:p>
            <a:endParaRPr lang="en-US"/>
          </a:p>
        </p:txBody>
      </p:sp>
      <p:grpSp>
        <p:nvGrpSpPr>
          <p:cNvPr id="6" name="Group 6"/>
          <p:cNvGrpSpPr/>
          <p:nvPr/>
        </p:nvGrpSpPr>
        <p:grpSpPr>
          <a:xfrm>
            <a:off x="1742403" y="1614225"/>
            <a:ext cx="9224755" cy="2608872"/>
            <a:chOff x="0" y="-47625"/>
            <a:chExt cx="12299673" cy="3478495"/>
          </a:xfrm>
        </p:grpSpPr>
        <p:sp>
          <p:nvSpPr>
            <p:cNvPr id="7" name="TextBox 7"/>
            <p:cNvSpPr txBox="1"/>
            <p:nvPr/>
          </p:nvSpPr>
          <p:spPr>
            <a:xfrm>
              <a:off x="0" y="2712725"/>
              <a:ext cx="12286077" cy="718145"/>
            </a:xfrm>
            <a:prstGeom prst="rect">
              <a:avLst/>
            </a:prstGeom>
          </p:spPr>
          <p:txBody>
            <a:bodyPr lIns="0" tIns="0" rIns="0" bIns="0" rtlCol="0" anchor="t">
              <a:spAutoFit/>
            </a:bodyPr>
            <a:lstStyle/>
            <a:p>
              <a:pPr>
                <a:lnSpc>
                  <a:spcPts val="4200"/>
                </a:lnSpc>
              </a:pPr>
              <a:r>
                <a:rPr lang="en-US" sz="3500" spc="259" dirty="0">
                  <a:solidFill>
                    <a:srgbClr val="110B4B"/>
                  </a:solidFill>
                  <a:latin typeface="Montserrat Classic Bold"/>
                </a:rPr>
                <a:t>Founder and CEO</a:t>
              </a:r>
            </a:p>
          </p:txBody>
        </p:sp>
        <p:sp>
          <p:nvSpPr>
            <p:cNvPr id="8" name="TextBox 8"/>
            <p:cNvSpPr txBox="1"/>
            <p:nvPr/>
          </p:nvSpPr>
          <p:spPr>
            <a:xfrm>
              <a:off x="0" y="-47625"/>
              <a:ext cx="12299673" cy="1467068"/>
            </a:xfrm>
            <a:prstGeom prst="rect">
              <a:avLst/>
            </a:prstGeom>
          </p:spPr>
          <p:txBody>
            <a:bodyPr lIns="0" tIns="0" rIns="0" bIns="0" rtlCol="0" anchor="t">
              <a:spAutoFit/>
            </a:bodyPr>
            <a:lstStyle/>
            <a:p>
              <a:pPr>
                <a:lnSpc>
                  <a:spcPts val="9450"/>
                </a:lnSpc>
              </a:pPr>
              <a:r>
                <a:rPr lang="en-US" sz="7500" spc="67">
                  <a:solidFill>
                    <a:srgbClr val="110B4B"/>
                  </a:solidFill>
                  <a:latin typeface="Montserrat Classic Bold"/>
                </a:rPr>
                <a:t>Espy Mead</a:t>
              </a:r>
            </a:p>
          </p:txBody>
        </p:sp>
        <p:sp>
          <p:nvSpPr>
            <p:cNvPr id="9" name="AutoShape 9"/>
            <p:cNvSpPr/>
            <p:nvPr/>
          </p:nvSpPr>
          <p:spPr>
            <a:xfrm>
              <a:off x="0" y="2007230"/>
              <a:ext cx="5915653" cy="231790"/>
            </a:xfrm>
            <a:prstGeom prst="rect">
              <a:avLst/>
            </a:prstGeom>
            <a:solidFill>
              <a:srgbClr val="110B4B"/>
            </a:solidFill>
          </p:spPr>
          <p:txBody>
            <a:bodyPr/>
            <a:lstStyle/>
            <a:p>
              <a:endParaRPr lang="en-US"/>
            </a:p>
          </p:txBody>
        </p:sp>
      </p:grpSp>
      <p:pic>
        <p:nvPicPr>
          <p:cNvPr id="10" name="Picture 10"/>
          <p:cNvPicPr>
            <a:picLocks noChangeAspect="1"/>
          </p:cNvPicPr>
          <p:nvPr/>
        </p:nvPicPr>
        <p:blipFill>
          <a:blip r:embed="rId3"/>
          <a:srcRect/>
          <a:stretch>
            <a:fillRect/>
          </a:stretch>
        </p:blipFill>
        <p:spPr>
          <a:xfrm>
            <a:off x="14726613" y="1134242"/>
            <a:ext cx="2260633" cy="809118"/>
          </a:xfrm>
          <a:prstGeom prst="rect">
            <a:avLst/>
          </a:prstGeom>
        </p:spPr>
      </p:pic>
      <p:grpSp>
        <p:nvGrpSpPr>
          <p:cNvPr id="11" name="Group 11"/>
          <p:cNvGrpSpPr>
            <a:grpSpLocks noChangeAspect="1"/>
          </p:cNvGrpSpPr>
          <p:nvPr/>
        </p:nvGrpSpPr>
        <p:grpSpPr>
          <a:xfrm>
            <a:off x="12371764" y="2945130"/>
            <a:ext cx="5001836" cy="5246370"/>
            <a:chOff x="0" y="0"/>
            <a:chExt cx="13716000" cy="14386560"/>
          </a:xfrm>
        </p:grpSpPr>
        <p:sp>
          <p:nvSpPr>
            <p:cNvPr id="12" name="Freeform 12"/>
            <p:cNvSpPr/>
            <p:nvPr/>
          </p:nvSpPr>
          <p:spPr>
            <a:xfrm>
              <a:off x="1430020" y="726440"/>
              <a:ext cx="11457940" cy="10681970"/>
            </a:xfrm>
            <a:custGeom>
              <a:avLst/>
              <a:gdLst/>
              <a:ahLst/>
              <a:cxnLst/>
              <a:rect l="l" t="t" r="r" b="b"/>
              <a:pathLst>
                <a:path w="11457940" h="10681970">
                  <a:moveTo>
                    <a:pt x="11457940" y="10681970"/>
                  </a:moveTo>
                  <a:lnTo>
                    <a:pt x="0" y="10681970"/>
                  </a:lnTo>
                  <a:lnTo>
                    <a:pt x="0" y="0"/>
                  </a:lnTo>
                  <a:lnTo>
                    <a:pt x="11456669" y="0"/>
                  </a:lnTo>
                  <a:lnTo>
                    <a:pt x="11456669" y="10681970"/>
                  </a:lnTo>
                  <a:lnTo>
                    <a:pt x="11457940" y="10681970"/>
                  </a:lnTo>
                  <a:close/>
                </a:path>
              </a:pathLst>
            </a:custGeom>
            <a:blipFill>
              <a:blip r:embed="rId4"/>
              <a:stretch>
                <a:fillRect l="-4820" r="-4831"/>
              </a:stretch>
            </a:blipFill>
          </p:spPr>
          <p:txBody>
            <a:bodyPr/>
            <a:lstStyle/>
            <a:p>
              <a:endParaRPr lang="en-US"/>
            </a:p>
          </p:txBody>
        </p:sp>
        <p:sp>
          <p:nvSpPr>
            <p:cNvPr id="13" name="Freeform 13"/>
            <p:cNvSpPr/>
            <p:nvPr/>
          </p:nvSpPr>
          <p:spPr>
            <a:xfrm>
              <a:off x="0" y="0"/>
              <a:ext cx="13716000" cy="14386561"/>
            </a:xfrm>
            <a:custGeom>
              <a:avLst/>
              <a:gdLst/>
              <a:ahLst/>
              <a:cxnLst/>
              <a:rect l="l" t="t" r="r" b="b"/>
              <a:pathLst>
                <a:path w="13716000" h="14386561">
                  <a:moveTo>
                    <a:pt x="13716000" y="14386561"/>
                  </a:moveTo>
                  <a:lnTo>
                    <a:pt x="0" y="14386561"/>
                  </a:lnTo>
                  <a:lnTo>
                    <a:pt x="0" y="0"/>
                  </a:lnTo>
                  <a:lnTo>
                    <a:pt x="13716000" y="0"/>
                  </a:lnTo>
                  <a:lnTo>
                    <a:pt x="13716000" y="14386561"/>
                  </a:lnTo>
                  <a:close/>
                </a:path>
              </a:pathLst>
            </a:custGeom>
            <a:blipFill>
              <a:blip r:embed="rId5"/>
              <a:stretch>
                <a:fillRect l="-412" r="-412"/>
              </a:stretch>
            </a:blipFill>
          </p:spPr>
          <p:txBody>
            <a:bodyPr/>
            <a:lstStyle/>
            <a:p>
              <a:endParaRPr lang="en-US"/>
            </a:p>
          </p:txBody>
        </p:sp>
      </p:grpSp>
      <p:grpSp>
        <p:nvGrpSpPr>
          <p:cNvPr id="14" name="Group 14"/>
          <p:cNvGrpSpPr/>
          <p:nvPr/>
        </p:nvGrpSpPr>
        <p:grpSpPr>
          <a:xfrm>
            <a:off x="1447800" y="4114800"/>
            <a:ext cx="10839571" cy="4574085"/>
            <a:chOff x="-1" y="-95250"/>
            <a:chExt cx="13997853" cy="4065173"/>
          </a:xfrm>
        </p:grpSpPr>
        <p:sp>
          <p:nvSpPr>
            <p:cNvPr id="15" name="TextBox 15"/>
            <p:cNvSpPr txBox="1"/>
            <p:nvPr/>
          </p:nvSpPr>
          <p:spPr>
            <a:xfrm>
              <a:off x="0" y="-95250"/>
              <a:ext cx="12299673" cy="702310"/>
            </a:xfrm>
            <a:prstGeom prst="rect">
              <a:avLst/>
            </a:prstGeom>
          </p:spPr>
          <p:txBody>
            <a:bodyPr lIns="0" tIns="0" rIns="0" bIns="0" rtlCol="0" anchor="t">
              <a:spAutoFit/>
            </a:bodyPr>
            <a:lstStyle/>
            <a:p>
              <a:pPr>
                <a:lnSpc>
                  <a:spcPts val="4590"/>
                </a:lnSpc>
              </a:pPr>
              <a:endParaRPr/>
            </a:p>
          </p:txBody>
        </p:sp>
        <p:sp>
          <p:nvSpPr>
            <p:cNvPr id="16" name="TextBox 16"/>
            <p:cNvSpPr txBox="1"/>
            <p:nvPr/>
          </p:nvSpPr>
          <p:spPr>
            <a:xfrm>
              <a:off x="-1" y="277221"/>
              <a:ext cx="13997853" cy="3692702"/>
            </a:xfrm>
            <a:prstGeom prst="rect">
              <a:avLst/>
            </a:prstGeom>
          </p:spPr>
          <p:txBody>
            <a:bodyPr wrap="square" lIns="0" tIns="0" rIns="0" bIns="0" rtlCol="0" anchor="t">
              <a:spAutoFit/>
            </a:bodyPr>
            <a:lstStyle/>
            <a:p>
              <a:pPr algn="just"/>
              <a:r>
                <a:rPr lang="en-US" sz="3000" b="1" spc="30" dirty="0">
                  <a:solidFill>
                    <a:srgbClr val="110B4B"/>
                  </a:solidFill>
                  <a:latin typeface="Montserrat Light"/>
                </a:rPr>
                <a:t>Espy has more than 30 years of actuarial experience and in all lines of business (Property and Casualty, Health, and Life). She worked since 1995 at Assurant, Inc. and later at Chubb Latin America (formerly Ace Group) as Chief Actuary.</a:t>
              </a:r>
            </a:p>
            <a:p>
              <a:pPr algn="just"/>
              <a:endParaRPr lang="en-US" sz="3000" b="1" spc="30" dirty="0">
                <a:solidFill>
                  <a:srgbClr val="110B4B"/>
                </a:solidFill>
                <a:latin typeface="Montserrat Light"/>
              </a:endParaRPr>
            </a:p>
            <a:p>
              <a:pPr algn="just"/>
              <a:r>
                <a:rPr lang="en-US" sz="3000" b="1" spc="30" dirty="0">
                  <a:solidFill>
                    <a:srgbClr val="110B4B"/>
                  </a:solidFill>
                  <a:latin typeface="Montserrat Light"/>
                </a:rPr>
                <a:t>Espy is a Fellow of the Casualty Actuarial Society, a Fellow of the Society of Actuaries and a Member of the American Academy of Actuaries. </a:t>
              </a:r>
            </a:p>
          </p:txBody>
        </p:sp>
      </p:grpSp>
    </p:spTree>
    <p:extLst>
      <p:ext uri="{BB962C8B-B14F-4D97-AF65-F5344CB8AC3E}">
        <p14:creationId xmlns:p14="http://schemas.microsoft.com/office/powerpoint/2010/main" val="2154491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73805" y="1398999"/>
            <a:ext cx="16280770" cy="1013098"/>
          </a:xfrm>
          <a:prstGeom prst="rect">
            <a:avLst/>
          </a:prstGeom>
        </p:spPr>
        <p:txBody>
          <a:bodyPr lIns="0" tIns="0" rIns="0" bIns="0" rtlCol="0" anchor="t">
            <a:spAutoFit/>
          </a:bodyPr>
          <a:lstStyle/>
          <a:p>
            <a:pPr>
              <a:lnSpc>
                <a:spcPts val="7860"/>
              </a:lnSpc>
            </a:pPr>
            <a:r>
              <a:rPr lang="en-US" sz="7500" spc="174">
                <a:solidFill>
                  <a:srgbClr val="110B4B"/>
                </a:solidFill>
                <a:latin typeface="Montserrat Classic Bold"/>
              </a:rPr>
              <a:t>Our Services</a:t>
            </a:r>
            <a:endParaRPr lang="en-US" sz="6500" spc="174">
              <a:solidFill>
                <a:srgbClr val="110B4B"/>
              </a:solidFill>
              <a:latin typeface="Montserrat Classic Bold"/>
            </a:endParaRPr>
          </a:p>
        </p:txBody>
      </p:sp>
      <p:sp>
        <p:nvSpPr>
          <p:cNvPr id="3" name="AutoShape 3"/>
          <p:cNvSpPr/>
          <p:nvPr/>
        </p:nvSpPr>
        <p:spPr>
          <a:xfrm>
            <a:off x="-266700" y="3289126"/>
            <a:ext cx="18821400" cy="7467600"/>
          </a:xfrm>
          <a:prstGeom prst="rect">
            <a:avLst/>
          </a:prstGeom>
          <a:solidFill>
            <a:srgbClr val="110B4B">
              <a:alpha val="89804"/>
            </a:srgbClr>
          </a:solidFill>
        </p:spPr>
        <p:txBody>
          <a:bodyPr/>
          <a:lstStyle/>
          <a:p>
            <a:endParaRPr lang="en-US"/>
          </a:p>
        </p:txBody>
      </p:sp>
      <p:sp>
        <p:nvSpPr>
          <p:cNvPr id="4" name="AutoShape 4"/>
          <p:cNvSpPr/>
          <p:nvPr/>
        </p:nvSpPr>
        <p:spPr>
          <a:xfrm>
            <a:off x="1394301" y="4176400"/>
            <a:ext cx="7318021" cy="5230247"/>
          </a:xfrm>
          <a:prstGeom prst="rect">
            <a:avLst/>
          </a:prstGeom>
          <a:solidFill>
            <a:srgbClr val="F8FBFD"/>
          </a:solidFill>
        </p:spPr>
        <p:txBody>
          <a:bodyPr/>
          <a:lstStyle/>
          <a:p>
            <a:endParaRPr lang="en-US"/>
          </a:p>
        </p:txBody>
      </p:sp>
      <p:sp>
        <p:nvSpPr>
          <p:cNvPr id="5" name="AutoShape 5"/>
          <p:cNvSpPr/>
          <p:nvPr/>
        </p:nvSpPr>
        <p:spPr>
          <a:xfrm>
            <a:off x="1394302" y="4305300"/>
            <a:ext cx="7318020" cy="2247900"/>
          </a:xfrm>
          <a:prstGeom prst="rect">
            <a:avLst/>
          </a:prstGeom>
          <a:solidFill>
            <a:srgbClr val="110B4B">
              <a:alpha val="19608"/>
            </a:srgbClr>
          </a:solidFill>
        </p:spPr>
        <p:txBody>
          <a:bodyPr/>
          <a:lstStyle/>
          <a:p>
            <a:endParaRPr lang="en-US"/>
          </a:p>
        </p:txBody>
      </p:sp>
      <p:sp>
        <p:nvSpPr>
          <p:cNvPr id="7" name="TextBox 7"/>
          <p:cNvSpPr txBox="1"/>
          <p:nvPr/>
        </p:nvSpPr>
        <p:spPr>
          <a:xfrm>
            <a:off x="1438043" y="6970688"/>
            <a:ext cx="7170939" cy="1906612"/>
          </a:xfrm>
          <a:prstGeom prst="rect">
            <a:avLst/>
          </a:prstGeom>
        </p:spPr>
        <p:txBody>
          <a:bodyPr wrap="square" lIns="0" tIns="0" rIns="0" bIns="0" rtlCol="0" anchor="t">
            <a:spAutoFit/>
          </a:bodyPr>
          <a:lstStyle/>
          <a:p>
            <a:pPr algn="ctr">
              <a:lnSpc>
                <a:spcPts val="3750"/>
              </a:lnSpc>
            </a:pPr>
            <a:r>
              <a:rPr lang="en-US" sz="2500" spc="25" dirty="0">
                <a:solidFill>
                  <a:srgbClr val="110B4B"/>
                </a:solidFill>
                <a:latin typeface="Montserrat Light"/>
              </a:rPr>
              <a:t>Premiums estimation, product development, determination of rates, including </a:t>
            </a:r>
            <a:r>
              <a:rPr lang="en-US" sz="2500" spc="25">
                <a:solidFill>
                  <a:srgbClr val="110B4B"/>
                </a:solidFill>
                <a:latin typeface="Montserrat Light"/>
              </a:rPr>
              <a:t>catastrophe modeling</a:t>
            </a:r>
          </a:p>
          <a:p>
            <a:pPr algn="ctr">
              <a:lnSpc>
                <a:spcPts val="3750"/>
              </a:lnSpc>
            </a:pPr>
            <a:endParaRPr lang="en-US" sz="2500" spc="25" dirty="0">
              <a:solidFill>
                <a:srgbClr val="110B4B"/>
              </a:solidFill>
              <a:latin typeface="Montserrat Light"/>
            </a:endParaRPr>
          </a:p>
        </p:txBody>
      </p:sp>
      <p:sp>
        <p:nvSpPr>
          <p:cNvPr id="8" name="AutoShape 8"/>
          <p:cNvSpPr/>
          <p:nvPr/>
        </p:nvSpPr>
        <p:spPr>
          <a:xfrm>
            <a:off x="8820981" y="4176400"/>
            <a:ext cx="7318021" cy="5230247"/>
          </a:xfrm>
          <a:prstGeom prst="rect">
            <a:avLst/>
          </a:prstGeom>
          <a:solidFill>
            <a:srgbClr val="F8FBFD"/>
          </a:solidFill>
        </p:spPr>
        <p:txBody>
          <a:bodyPr/>
          <a:lstStyle/>
          <a:p>
            <a:endParaRPr lang="en-US"/>
          </a:p>
        </p:txBody>
      </p:sp>
      <p:sp>
        <p:nvSpPr>
          <p:cNvPr id="9" name="AutoShape 9"/>
          <p:cNvSpPr/>
          <p:nvPr/>
        </p:nvSpPr>
        <p:spPr>
          <a:xfrm>
            <a:off x="8929640" y="4267200"/>
            <a:ext cx="7318021" cy="2286000"/>
          </a:xfrm>
          <a:prstGeom prst="rect">
            <a:avLst/>
          </a:prstGeom>
          <a:solidFill>
            <a:srgbClr val="110B4B">
              <a:alpha val="19608"/>
            </a:srgbClr>
          </a:solidFill>
        </p:spPr>
        <p:txBody>
          <a:bodyPr/>
          <a:lstStyle/>
          <a:p>
            <a:endParaRPr lang="en-US"/>
          </a:p>
        </p:txBody>
      </p:sp>
      <p:sp>
        <p:nvSpPr>
          <p:cNvPr id="11" name="TextBox 11"/>
          <p:cNvSpPr txBox="1"/>
          <p:nvPr/>
        </p:nvSpPr>
        <p:spPr>
          <a:xfrm>
            <a:off x="9221825" y="6970688"/>
            <a:ext cx="6789907" cy="931986"/>
          </a:xfrm>
          <a:prstGeom prst="rect">
            <a:avLst/>
          </a:prstGeom>
        </p:spPr>
        <p:txBody>
          <a:bodyPr wrap="square" lIns="0" tIns="0" rIns="0" bIns="0" rtlCol="0" anchor="t">
            <a:spAutoFit/>
          </a:bodyPr>
          <a:lstStyle/>
          <a:p>
            <a:pPr algn="ctr">
              <a:lnSpc>
                <a:spcPts val="3750"/>
              </a:lnSpc>
            </a:pPr>
            <a:r>
              <a:rPr lang="en-US" sz="2500" spc="25">
                <a:solidFill>
                  <a:srgbClr val="110B4B"/>
                </a:solidFill>
                <a:latin typeface="Montserrat Light"/>
              </a:rPr>
              <a:t>Loss reserve analysis, actuarial opinion, regulatory reports, Appointed Actuary</a:t>
            </a:r>
          </a:p>
        </p:txBody>
      </p:sp>
      <p:pic>
        <p:nvPicPr>
          <p:cNvPr id="20" name="Picture 20"/>
          <p:cNvPicPr>
            <a:picLocks noChangeAspect="1"/>
          </p:cNvPicPr>
          <p:nvPr/>
        </p:nvPicPr>
        <p:blipFill>
          <a:blip r:embed="rId2"/>
          <a:srcRect/>
          <a:stretch>
            <a:fillRect/>
          </a:stretch>
        </p:blipFill>
        <p:spPr>
          <a:xfrm>
            <a:off x="15856568" y="624141"/>
            <a:ext cx="2260633" cy="809118"/>
          </a:xfrm>
          <a:prstGeom prst="rect">
            <a:avLst/>
          </a:prstGeom>
        </p:spPr>
      </p:pic>
      <p:sp>
        <p:nvSpPr>
          <p:cNvPr id="21" name="TextBox 14">
            <a:extLst>
              <a:ext uri="{FF2B5EF4-FFF2-40B4-BE49-F238E27FC236}">
                <a16:creationId xmlns:a16="http://schemas.microsoft.com/office/drawing/2014/main" id="{AEF2AAA7-EA5A-E571-745A-C4C1C8014DAA}"/>
              </a:ext>
            </a:extLst>
          </p:cNvPr>
          <p:cNvSpPr txBox="1"/>
          <p:nvPr/>
        </p:nvSpPr>
        <p:spPr>
          <a:xfrm>
            <a:off x="1587623" y="4305300"/>
            <a:ext cx="7170938" cy="1106970"/>
          </a:xfrm>
          <a:prstGeom prst="rect">
            <a:avLst/>
          </a:prstGeom>
        </p:spPr>
        <p:txBody>
          <a:bodyPr wrap="square" lIns="0" tIns="0" rIns="0" bIns="0" rtlCol="0" anchor="t">
            <a:spAutoFit/>
          </a:bodyPr>
          <a:lstStyle/>
          <a:p>
            <a:pPr algn="ctr">
              <a:lnSpc>
                <a:spcPts val="4590"/>
              </a:lnSpc>
            </a:pPr>
            <a:r>
              <a:rPr lang="en-US" sz="3000" spc="330">
                <a:solidFill>
                  <a:srgbClr val="110B4B"/>
                </a:solidFill>
                <a:latin typeface="Montserrat Classic"/>
              </a:rPr>
              <a:t>(RE)INSURANCE COMPANIES</a:t>
            </a:r>
          </a:p>
          <a:p>
            <a:pPr algn="ctr">
              <a:lnSpc>
                <a:spcPts val="4590"/>
              </a:lnSpc>
            </a:pPr>
            <a:r>
              <a:rPr lang="en-US" sz="3000" b="1" spc="330">
                <a:solidFill>
                  <a:srgbClr val="110B4B"/>
                </a:solidFill>
                <a:latin typeface="Montserrat Classic"/>
              </a:rPr>
              <a:t>- PRICING -</a:t>
            </a:r>
          </a:p>
        </p:txBody>
      </p:sp>
      <p:sp>
        <p:nvSpPr>
          <p:cNvPr id="22" name="TextBox 14">
            <a:extLst>
              <a:ext uri="{FF2B5EF4-FFF2-40B4-BE49-F238E27FC236}">
                <a16:creationId xmlns:a16="http://schemas.microsoft.com/office/drawing/2014/main" id="{6DECDB2F-A3F3-C140-6B87-441D0B451923}"/>
              </a:ext>
            </a:extLst>
          </p:cNvPr>
          <p:cNvSpPr txBox="1"/>
          <p:nvPr/>
        </p:nvSpPr>
        <p:spPr>
          <a:xfrm>
            <a:off x="9358432" y="4266420"/>
            <a:ext cx="6653299" cy="1696875"/>
          </a:xfrm>
          <a:prstGeom prst="rect">
            <a:avLst/>
          </a:prstGeom>
        </p:spPr>
        <p:txBody>
          <a:bodyPr wrap="square" lIns="0" tIns="0" rIns="0" bIns="0" rtlCol="0" anchor="t">
            <a:spAutoFit/>
          </a:bodyPr>
          <a:lstStyle/>
          <a:p>
            <a:pPr algn="ctr">
              <a:lnSpc>
                <a:spcPts val="4590"/>
              </a:lnSpc>
            </a:pPr>
            <a:r>
              <a:rPr lang="en-US" sz="3000" spc="330">
                <a:solidFill>
                  <a:srgbClr val="110B4B"/>
                </a:solidFill>
                <a:latin typeface="Montserrat Classic"/>
              </a:rPr>
              <a:t>(RE) INSURANCE COMPANIES</a:t>
            </a:r>
          </a:p>
          <a:p>
            <a:pPr algn="ctr">
              <a:lnSpc>
                <a:spcPts val="4590"/>
              </a:lnSpc>
            </a:pPr>
            <a:r>
              <a:rPr lang="en-US" sz="3000" b="1" spc="330">
                <a:solidFill>
                  <a:srgbClr val="110B4B"/>
                </a:solidFill>
                <a:latin typeface="Montserrat Classic"/>
              </a:rPr>
              <a:t>- RESERVING -</a:t>
            </a:r>
          </a:p>
        </p:txBody>
      </p:sp>
    </p:spTree>
    <p:extLst>
      <p:ext uri="{BB962C8B-B14F-4D97-AF65-F5344CB8AC3E}">
        <p14:creationId xmlns:p14="http://schemas.microsoft.com/office/powerpoint/2010/main" val="2133771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73805" y="1398999"/>
            <a:ext cx="16280770" cy="1013098"/>
          </a:xfrm>
          <a:prstGeom prst="rect">
            <a:avLst/>
          </a:prstGeom>
        </p:spPr>
        <p:txBody>
          <a:bodyPr lIns="0" tIns="0" rIns="0" bIns="0" rtlCol="0" anchor="t">
            <a:spAutoFit/>
          </a:bodyPr>
          <a:lstStyle/>
          <a:p>
            <a:pPr>
              <a:lnSpc>
                <a:spcPts val="7860"/>
              </a:lnSpc>
            </a:pPr>
            <a:r>
              <a:rPr lang="en-US" sz="7500" spc="174">
                <a:solidFill>
                  <a:srgbClr val="110B4B"/>
                </a:solidFill>
                <a:latin typeface="Montserrat Classic Bold"/>
              </a:rPr>
              <a:t>Our Services</a:t>
            </a:r>
            <a:endParaRPr lang="en-US" sz="6500" spc="174">
              <a:solidFill>
                <a:srgbClr val="110B4B"/>
              </a:solidFill>
              <a:latin typeface="Montserrat Classic Bold"/>
            </a:endParaRPr>
          </a:p>
        </p:txBody>
      </p:sp>
      <p:sp>
        <p:nvSpPr>
          <p:cNvPr id="3" name="AutoShape 3"/>
          <p:cNvSpPr/>
          <p:nvPr/>
        </p:nvSpPr>
        <p:spPr>
          <a:xfrm>
            <a:off x="-266700" y="3289126"/>
            <a:ext cx="18821400" cy="7467600"/>
          </a:xfrm>
          <a:prstGeom prst="rect">
            <a:avLst/>
          </a:prstGeom>
          <a:solidFill>
            <a:srgbClr val="110B4B">
              <a:alpha val="89804"/>
            </a:srgbClr>
          </a:solidFill>
        </p:spPr>
        <p:txBody>
          <a:bodyPr/>
          <a:lstStyle/>
          <a:p>
            <a:endParaRPr lang="en-US"/>
          </a:p>
        </p:txBody>
      </p:sp>
      <p:sp>
        <p:nvSpPr>
          <p:cNvPr id="4" name="AutoShape 4"/>
          <p:cNvSpPr/>
          <p:nvPr/>
        </p:nvSpPr>
        <p:spPr>
          <a:xfrm>
            <a:off x="1423483" y="4176400"/>
            <a:ext cx="7318021" cy="5230247"/>
          </a:xfrm>
          <a:prstGeom prst="rect">
            <a:avLst/>
          </a:prstGeom>
          <a:solidFill>
            <a:srgbClr val="F8FBFD"/>
          </a:solidFill>
        </p:spPr>
        <p:txBody>
          <a:bodyPr/>
          <a:lstStyle/>
          <a:p>
            <a:endParaRPr lang="en-US"/>
          </a:p>
        </p:txBody>
      </p:sp>
      <p:sp>
        <p:nvSpPr>
          <p:cNvPr id="5" name="AutoShape 5"/>
          <p:cNvSpPr/>
          <p:nvPr/>
        </p:nvSpPr>
        <p:spPr>
          <a:xfrm>
            <a:off x="1423483" y="4305300"/>
            <a:ext cx="7318020" cy="2247900"/>
          </a:xfrm>
          <a:prstGeom prst="rect">
            <a:avLst/>
          </a:prstGeom>
          <a:solidFill>
            <a:srgbClr val="110B4B">
              <a:alpha val="19608"/>
            </a:srgbClr>
          </a:solidFill>
        </p:spPr>
        <p:txBody>
          <a:bodyPr/>
          <a:lstStyle/>
          <a:p>
            <a:endParaRPr lang="en-US"/>
          </a:p>
        </p:txBody>
      </p:sp>
      <p:sp>
        <p:nvSpPr>
          <p:cNvPr id="7" name="TextBox 7"/>
          <p:cNvSpPr txBox="1"/>
          <p:nvPr/>
        </p:nvSpPr>
        <p:spPr>
          <a:xfrm>
            <a:off x="1467225" y="6970688"/>
            <a:ext cx="7170939" cy="444674"/>
          </a:xfrm>
          <a:prstGeom prst="rect">
            <a:avLst/>
          </a:prstGeom>
        </p:spPr>
        <p:txBody>
          <a:bodyPr wrap="square" lIns="0" tIns="0" rIns="0" bIns="0" rtlCol="0" anchor="t">
            <a:spAutoFit/>
          </a:bodyPr>
          <a:lstStyle/>
          <a:p>
            <a:pPr algn="ctr">
              <a:lnSpc>
                <a:spcPts val="3750"/>
              </a:lnSpc>
            </a:pPr>
            <a:r>
              <a:rPr lang="en-US" sz="2500" spc="25">
                <a:solidFill>
                  <a:srgbClr val="110B4B"/>
                </a:solidFill>
                <a:latin typeface="Montserrat Light"/>
              </a:rPr>
              <a:t>Actuarial services for self-insured entities</a:t>
            </a:r>
          </a:p>
        </p:txBody>
      </p:sp>
      <p:sp>
        <p:nvSpPr>
          <p:cNvPr id="8" name="AutoShape 8"/>
          <p:cNvSpPr/>
          <p:nvPr/>
        </p:nvSpPr>
        <p:spPr>
          <a:xfrm>
            <a:off x="8850163" y="4176400"/>
            <a:ext cx="7318021" cy="5230247"/>
          </a:xfrm>
          <a:prstGeom prst="rect">
            <a:avLst/>
          </a:prstGeom>
          <a:solidFill>
            <a:srgbClr val="F8FBFD"/>
          </a:solidFill>
        </p:spPr>
        <p:txBody>
          <a:bodyPr/>
          <a:lstStyle/>
          <a:p>
            <a:endParaRPr lang="en-US"/>
          </a:p>
        </p:txBody>
      </p:sp>
      <p:sp>
        <p:nvSpPr>
          <p:cNvPr id="9" name="AutoShape 9"/>
          <p:cNvSpPr/>
          <p:nvPr/>
        </p:nvSpPr>
        <p:spPr>
          <a:xfrm>
            <a:off x="8958822" y="4267200"/>
            <a:ext cx="7318021" cy="2286000"/>
          </a:xfrm>
          <a:prstGeom prst="rect">
            <a:avLst/>
          </a:prstGeom>
          <a:solidFill>
            <a:srgbClr val="110B4B">
              <a:alpha val="19608"/>
            </a:srgbClr>
          </a:solidFill>
        </p:spPr>
        <p:txBody>
          <a:bodyPr/>
          <a:lstStyle/>
          <a:p>
            <a:endParaRPr lang="en-US"/>
          </a:p>
        </p:txBody>
      </p:sp>
      <p:sp>
        <p:nvSpPr>
          <p:cNvPr id="11" name="TextBox 11"/>
          <p:cNvSpPr txBox="1"/>
          <p:nvPr/>
        </p:nvSpPr>
        <p:spPr>
          <a:xfrm>
            <a:off x="9251007" y="6970688"/>
            <a:ext cx="6789907" cy="931986"/>
          </a:xfrm>
          <a:prstGeom prst="rect">
            <a:avLst/>
          </a:prstGeom>
        </p:spPr>
        <p:txBody>
          <a:bodyPr wrap="square" lIns="0" tIns="0" rIns="0" bIns="0" rtlCol="0" anchor="t">
            <a:spAutoFit/>
          </a:bodyPr>
          <a:lstStyle/>
          <a:p>
            <a:pPr algn="ctr">
              <a:lnSpc>
                <a:spcPts val="3750"/>
              </a:lnSpc>
            </a:pPr>
            <a:r>
              <a:rPr lang="en-US" sz="2500" spc="25">
                <a:solidFill>
                  <a:srgbClr val="110B4B"/>
                </a:solidFill>
                <a:latin typeface="Montserrat Light"/>
              </a:rPr>
              <a:t>Definition and refinement of growth strategies</a:t>
            </a:r>
          </a:p>
        </p:txBody>
      </p:sp>
      <p:pic>
        <p:nvPicPr>
          <p:cNvPr id="20" name="Picture 20"/>
          <p:cNvPicPr>
            <a:picLocks noChangeAspect="1"/>
          </p:cNvPicPr>
          <p:nvPr/>
        </p:nvPicPr>
        <p:blipFill>
          <a:blip r:embed="rId2"/>
          <a:srcRect/>
          <a:stretch>
            <a:fillRect/>
          </a:stretch>
        </p:blipFill>
        <p:spPr>
          <a:xfrm>
            <a:off x="15856568" y="624141"/>
            <a:ext cx="2260633" cy="809118"/>
          </a:xfrm>
          <a:prstGeom prst="rect">
            <a:avLst/>
          </a:prstGeom>
        </p:spPr>
      </p:pic>
      <p:sp>
        <p:nvSpPr>
          <p:cNvPr id="21" name="TextBox 14">
            <a:extLst>
              <a:ext uri="{FF2B5EF4-FFF2-40B4-BE49-F238E27FC236}">
                <a16:creationId xmlns:a16="http://schemas.microsoft.com/office/drawing/2014/main" id="{AEF2AAA7-EA5A-E571-745A-C4C1C8014DAA}"/>
              </a:ext>
            </a:extLst>
          </p:cNvPr>
          <p:cNvSpPr txBox="1"/>
          <p:nvPr/>
        </p:nvSpPr>
        <p:spPr>
          <a:xfrm>
            <a:off x="1616805" y="4305300"/>
            <a:ext cx="7170938" cy="1696875"/>
          </a:xfrm>
          <a:prstGeom prst="rect">
            <a:avLst/>
          </a:prstGeom>
        </p:spPr>
        <p:txBody>
          <a:bodyPr wrap="square" lIns="0" tIns="0" rIns="0" bIns="0" rtlCol="0" anchor="t">
            <a:spAutoFit/>
          </a:bodyPr>
          <a:lstStyle/>
          <a:p>
            <a:pPr algn="ctr">
              <a:lnSpc>
                <a:spcPts val="4590"/>
              </a:lnSpc>
            </a:pPr>
            <a:r>
              <a:rPr lang="en-US" sz="3000" spc="330">
                <a:solidFill>
                  <a:srgbClr val="110B4B"/>
                </a:solidFill>
                <a:latin typeface="Montserrat Classic"/>
              </a:rPr>
              <a:t>SELF-INSURED              ENTITIES</a:t>
            </a:r>
          </a:p>
          <a:p>
            <a:pPr algn="ctr">
              <a:lnSpc>
                <a:spcPts val="4590"/>
              </a:lnSpc>
            </a:pPr>
            <a:r>
              <a:rPr lang="en-US" sz="3000" b="1" spc="330">
                <a:solidFill>
                  <a:srgbClr val="110B4B"/>
                </a:solidFill>
                <a:latin typeface="Montserrat Classic"/>
              </a:rPr>
              <a:t>- PRICING &amp; RESERVING -</a:t>
            </a:r>
          </a:p>
        </p:txBody>
      </p:sp>
      <p:sp>
        <p:nvSpPr>
          <p:cNvPr id="22" name="TextBox 14">
            <a:extLst>
              <a:ext uri="{FF2B5EF4-FFF2-40B4-BE49-F238E27FC236}">
                <a16:creationId xmlns:a16="http://schemas.microsoft.com/office/drawing/2014/main" id="{6DECDB2F-A3F3-C140-6B87-441D0B451923}"/>
              </a:ext>
            </a:extLst>
          </p:cNvPr>
          <p:cNvSpPr txBox="1"/>
          <p:nvPr/>
        </p:nvSpPr>
        <p:spPr>
          <a:xfrm>
            <a:off x="9259355" y="4600252"/>
            <a:ext cx="6653299" cy="1106970"/>
          </a:xfrm>
          <a:prstGeom prst="rect">
            <a:avLst/>
          </a:prstGeom>
        </p:spPr>
        <p:txBody>
          <a:bodyPr wrap="square" lIns="0" tIns="0" rIns="0" bIns="0" rtlCol="0" anchor="t">
            <a:spAutoFit/>
          </a:bodyPr>
          <a:lstStyle/>
          <a:p>
            <a:pPr algn="ctr">
              <a:lnSpc>
                <a:spcPts val="4590"/>
              </a:lnSpc>
            </a:pPr>
            <a:r>
              <a:rPr lang="en-US" sz="3000" spc="330">
                <a:solidFill>
                  <a:srgbClr val="110B4B"/>
                </a:solidFill>
                <a:latin typeface="Montserrat Classic"/>
              </a:rPr>
              <a:t>MERGERS AND ACQUISITIONS</a:t>
            </a:r>
          </a:p>
        </p:txBody>
      </p:sp>
    </p:spTree>
    <p:extLst>
      <p:ext uri="{BB962C8B-B14F-4D97-AF65-F5344CB8AC3E}">
        <p14:creationId xmlns:p14="http://schemas.microsoft.com/office/powerpoint/2010/main" val="770251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73805" y="1398999"/>
            <a:ext cx="16280770" cy="1013098"/>
          </a:xfrm>
          <a:prstGeom prst="rect">
            <a:avLst/>
          </a:prstGeom>
        </p:spPr>
        <p:txBody>
          <a:bodyPr lIns="0" tIns="0" rIns="0" bIns="0" rtlCol="0" anchor="t">
            <a:spAutoFit/>
          </a:bodyPr>
          <a:lstStyle/>
          <a:p>
            <a:pPr>
              <a:lnSpc>
                <a:spcPts val="7860"/>
              </a:lnSpc>
            </a:pPr>
            <a:r>
              <a:rPr lang="en-US" sz="7500" spc="174">
                <a:solidFill>
                  <a:srgbClr val="110B4B"/>
                </a:solidFill>
                <a:latin typeface="Montserrat Classic Bold"/>
              </a:rPr>
              <a:t>Our Services</a:t>
            </a:r>
          </a:p>
        </p:txBody>
      </p:sp>
      <p:sp>
        <p:nvSpPr>
          <p:cNvPr id="3" name="AutoShape 3"/>
          <p:cNvSpPr/>
          <p:nvPr/>
        </p:nvSpPr>
        <p:spPr>
          <a:xfrm>
            <a:off x="-42537" y="3095391"/>
            <a:ext cx="18821400" cy="7467600"/>
          </a:xfrm>
          <a:prstGeom prst="rect">
            <a:avLst/>
          </a:prstGeom>
          <a:solidFill>
            <a:srgbClr val="110B4B">
              <a:alpha val="89804"/>
            </a:srgbClr>
          </a:solidFill>
        </p:spPr>
        <p:txBody>
          <a:bodyPr/>
          <a:lstStyle/>
          <a:p>
            <a:endParaRPr lang="en-US"/>
          </a:p>
        </p:txBody>
      </p:sp>
      <p:sp>
        <p:nvSpPr>
          <p:cNvPr id="4" name="AutoShape 4"/>
          <p:cNvSpPr/>
          <p:nvPr/>
        </p:nvSpPr>
        <p:spPr>
          <a:xfrm>
            <a:off x="1627772" y="4176400"/>
            <a:ext cx="7318021" cy="5230247"/>
          </a:xfrm>
          <a:prstGeom prst="rect">
            <a:avLst/>
          </a:prstGeom>
          <a:solidFill>
            <a:srgbClr val="F8FBFD"/>
          </a:solidFill>
        </p:spPr>
        <p:txBody>
          <a:bodyPr/>
          <a:lstStyle/>
          <a:p>
            <a:endParaRPr lang="en-US"/>
          </a:p>
        </p:txBody>
      </p:sp>
      <p:sp>
        <p:nvSpPr>
          <p:cNvPr id="5" name="AutoShape 5"/>
          <p:cNvSpPr/>
          <p:nvPr/>
        </p:nvSpPr>
        <p:spPr>
          <a:xfrm>
            <a:off x="1481857" y="4305300"/>
            <a:ext cx="7318020" cy="2247900"/>
          </a:xfrm>
          <a:prstGeom prst="rect">
            <a:avLst/>
          </a:prstGeom>
          <a:solidFill>
            <a:srgbClr val="110B4B">
              <a:alpha val="19608"/>
            </a:srgbClr>
          </a:solidFill>
        </p:spPr>
        <p:txBody>
          <a:bodyPr/>
          <a:lstStyle/>
          <a:p>
            <a:endParaRPr lang="en-US"/>
          </a:p>
        </p:txBody>
      </p:sp>
      <p:sp>
        <p:nvSpPr>
          <p:cNvPr id="7" name="TextBox 7"/>
          <p:cNvSpPr txBox="1"/>
          <p:nvPr/>
        </p:nvSpPr>
        <p:spPr>
          <a:xfrm>
            <a:off x="1610327" y="6970688"/>
            <a:ext cx="7170939" cy="1419299"/>
          </a:xfrm>
          <a:prstGeom prst="rect">
            <a:avLst/>
          </a:prstGeom>
        </p:spPr>
        <p:txBody>
          <a:bodyPr wrap="square" lIns="0" tIns="0" rIns="0" bIns="0" rtlCol="0" anchor="t">
            <a:spAutoFit/>
          </a:bodyPr>
          <a:lstStyle/>
          <a:p>
            <a:pPr algn="ctr">
              <a:lnSpc>
                <a:spcPts val="3750"/>
              </a:lnSpc>
            </a:pPr>
            <a:r>
              <a:rPr lang="en-US" sz="2500" spc="25">
                <a:solidFill>
                  <a:srgbClr val="110B4B"/>
                </a:solidFill>
                <a:latin typeface="Montserrat Light"/>
              </a:rPr>
              <a:t>Feasibility studies, premiums estimation, product development, determination of rates</a:t>
            </a:r>
          </a:p>
        </p:txBody>
      </p:sp>
      <p:sp>
        <p:nvSpPr>
          <p:cNvPr id="8" name="AutoShape 8"/>
          <p:cNvSpPr/>
          <p:nvPr/>
        </p:nvSpPr>
        <p:spPr>
          <a:xfrm>
            <a:off x="9054452" y="4176400"/>
            <a:ext cx="7318021" cy="5230247"/>
          </a:xfrm>
          <a:prstGeom prst="rect">
            <a:avLst/>
          </a:prstGeom>
          <a:solidFill>
            <a:srgbClr val="F8FBFD"/>
          </a:solidFill>
        </p:spPr>
        <p:txBody>
          <a:bodyPr/>
          <a:lstStyle/>
          <a:p>
            <a:endParaRPr lang="en-US"/>
          </a:p>
        </p:txBody>
      </p:sp>
      <p:sp>
        <p:nvSpPr>
          <p:cNvPr id="9" name="AutoShape 9"/>
          <p:cNvSpPr/>
          <p:nvPr/>
        </p:nvSpPr>
        <p:spPr>
          <a:xfrm>
            <a:off x="9017195" y="4267200"/>
            <a:ext cx="7318021" cy="2286000"/>
          </a:xfrm>
          <a:prstGeom prst="rect">
            <a:avLst/>
          </a:prstGeom>
          <a:solidFill>
            <a:srgbClr val="110B4B">
              <a:alpha val="19608"/>
            </a:srgbClr>
          </a:solidFill>
        </p:spPr>
        <p:txBody>
          <a:bodyPr/>
          <a:lstStyle/>
          <a:p>
            <a:endParaRPr lang="en-US"/>
          </a:p>
        </p:txBody>
      </p:sp>
      <p:sp>
        <p:nvSpPr>
          <p:cNvPr id="11" name="TextBox 11"/>
          <p:cNvSpPr txBox="1"/>
          <p:nvPr/>
        </p:nvSpPr>
        <p:spPr>
          <a:xfrm>
            <a:off x="9309380" y="6970688"/>
            <a:ext cx="6789907" cy="931986"/>
          </a:xfrm>
          <a:prstGeom prst="rect">
            <a:avLst/>
          </a:prstGeom>
        </p:spPr>
        <p:txBody>
          <a:bodyPr wrap="square" lIns="0" tIns="0" rIns="0" bIns="0" rtlCol="0" anchor="t">
            <a:spAutoFit/>
          </a:bodyPr>
          <a:lstStyle/>
          <a:p>
            <a:pPr algn="ctr">
              <a:lnSpc>
                <a:spcPts val="3750"/>
              </a:lnSpc>
            </a:pPr>
            <a:r>
              <a:rPr lang="en-US" sz="2500" spc="25">
                <a:solidFill>
                  <a:srgbClr val="110B4B"/>
                </a:solidFill>
                <a:latin typeface="Montserrat Light"/>
              </a:rPr>
              <a:t>Loss reserve analysis, actuarial opinion, regulatory reports, Appointed Actuary</a:t>
            </a:r>
          </a:p>
        </p:txBody>
      </p:sp>
      <p:pic>
        <p:nvPicPr>
          <p:cNvPr id="20" name="Picture 20"/>
          <p:cNvPicPr>
            <a:picLocks noChangeAspect="1"/>
          </p:cNvPicPr>
          <p:nvPr/>
        </p:nvPicPr>
        <p:blipFill>
          <a:blip r:embed="rId2"/>
          <a:srcRect/>
          <a:stretch>
            <a:fillRect/>
          </a:stretch>
        </p:blipFill>
        <p:spPr>
          <a:xfrm>
            <a:off x="15856568" y="624141"/>
            <a:ext cx="2260633" cy="809118"/>
          </a:xfrm>
          <a:prstGeom prst="rect">
            <a:avLst/>
          </a:prstGeom>
        </p:spPr>
      </p:pic>
      <p:sp>
        <p:nvSpPr>
          <p:cNvPr id="21" name="TextBox 14">
            <a:extLst>
              <a:ext uri="{FF2B5EF4-FFF2-40B4-BE49-F238E27FC236}">
                <a16:creationId xmlns:a16="http://schemas.microsoft.com/office/drawing/2014/main" id="{AEF2AAA7-EA5A-E571-745A-C4C1C8014DAA}"/>
              </a:ext>
            </a:extLst>
          </p:cNvPr>
          <p:cNvSpPr txBox="1"/>
          <p:nvPr/>
        </p:nvSpPr>
        <p:spPr>
          <a:xfrm>
            <a:off x="1675178" y="4305300"/>
            <a:ext cx="7170938" cy="1696875"/>
          </a:xfrm>
          <a:prstGeom prst="rect">
            <a:avLst/>
          </a:prstGeom>
        </p:spPr>
        <p:txBody>
          <a:bodyPr wrap="square" lIns="0" tIns="0" rIns="0" bIns="0" rtlCol="0" anchor="t">
            <a:spAutoFit/>
          </a:bodyPr>
          <a:lstStyle/>
          <a:p>
            <a:pPr algn="ctr">
              <a:lnSpc>
                <a:spcPts val="4590"/>
              </a:lnSpc>
            </a:pPr>
            <a:r>
              <a:rPr lang="en-US" sz="3000" spc="330">
                <a:solidFill>
                  <a:srgbClr val="110B4B"/>
                </a:solidFill>
                <a:latin typeface="Montserrat Classic"/>
              </a:rPr>
              <a:t>CAPTIVE INSURANCE COMPANIES</a:t>
            </a:r>
          </a:p>
          <a:p>
            <a:pPr algn="ctr">
              <a:lnSpc>
                <a:spcPts val="4590"/>
              </a:lnSpc>
            </a:pPr>
            <a:r>
              <a:rPr lang="en-US" sz="3000" b="1" spc="330">
                <a:solidFill>
                  <a:srgbClr val="110B4B"/>
                </a:solidFill>
                <a:latin typeface="Montserrat Classic"/>
              </a:rPr>
              <a:t>- PRICING -</a:t>
            </a:r>
          </a:p>
        </p:txBody>
      </p:sp>
      <p:sp>
        <p:nvSpPr>
          <p:cNvPr id="22" name="TextBox 14">
            <a:extLst>
              <a:ext uri="{FF2B5EF4-FFF2-40B4-BE49-F238E27FC236}">
                <a16:creationId xmlns:a16="http://schemas.microsoft.com/office/drawing/2014/main" id="{6DECDB2F-A3F3-C140-6B87-441D0B451923}"/>
              </a:ext>
            </a:extLst>
          </p:cNvPr>
          <p:cNvSpPr txBox="1"/>
          <p:nvPr/>
        </p:nvSpPr>
        <p:spPr>
          <a:xfrm>
            <a:off x="9445987" y="4266420"/>
            <a:ext cx="6653299" cy="1696875"/>
          </a:xfrm>
          <a:prstGeom prst="rect">
            <a:avLst/>
          </a:prstGeom>
        </p:spPr>
        <p:txBody>
          <a:bodyPr wrap="square" lIns="0" tIns="0" rIns="0" bIns="0" rtlCol="0" anchor="t">
            <a:spAutoFit/>
          </a:bodyPr>
          <a:lstStyle/>
          <a:p>
            <a:pPr algn="ctr">
              <a:lnSpc>
                <a:spcPts val="4590"/>
              </a:lnSpc>
            </a:pPr>
            <a:r>
              <a:rPr lang="en-US" sz="3000" spc="330">
                <a:solidFill>
                  <a:srgbClr val="110B4B"/>
                </a:solidFill>
                <a:latin typeface="Montserrat Classic"/>
              </a:rPr>
              <a:t>CAPTIVE INSURANCE COMPANIES</a:t>
            </a:r>
          </a:p>
          <a:p>
            <a:pPr algn="ctr">
              <a:lnSpc>
                <a:spcPts val="4590"/>
              </a:lnSpc>
            </a:pPr>
            <a:r>
              <a:rPr lang="en-US" sz="3000" b="1" spc="330">
                <a:solidFill>
                  <a:srgbClr val="110B4B"/>
                </a:solidFill>
                <a:latin typeface="Montserrat Classic"/>
              </a:rPr>
              <a:t>- RESERVING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2038377" y="1710909"/>
            <a:ext cx="11346336" cy="1000274"/>
          </a:xfrm>
          <a:prstGeom prst="rect">
            <a:avLst/>
          </a:prstGeom>
        </p:spPr>
        <p:txBody>
          <a:bodyPr lIns="0" tIns="0" rIns="0" bIns="0" rtlCol="0" anchor="t">
            <a:spAutoFit/>
          </a:bodyPr>
          <a:lstStyle/>
          <a:p>
            <a:pPr>
              <a:lnSpc>
                <a:spcPts val="7800"/>
              </a:lnSpc>
            </a:pPr>
            <a:r>
              <a:rPr lang="en-US" sz="7500" spc="455">
                <a:solidFill>
                  <a:srgbClr val="110B4B"/>
                </a:solidFill>
                <a:latin typeface="Montserrat Classic Bold"/>
              </a:rPr>
              <a:t>Our Value</a:t>
            </a:r>
          </a:p>
        </p:txBody>
      </p:sp>
      <p:sp>
        <p:nvSpPr>
          <p:cNvPr id="3" name="AutoShape 3"/>
          <p:cNvSpPr/>
          <p:nvPr/>
        </p:nvSpPr>
        <p:spPr>
          <a:xfrm>
            <a:off x="15656762" y="-285750"/>
            <a:ext cx="2895600" cy="10896600"/>
          </a:xfrm>
          <a:prstGeom prst="rect">
            <a:avLst/>
          </a:prstGeom>
          <a:solidFill>
            <a:srgbClr val="F8FBFD"/>
          </a:solidFill>
        </p:spPr>
        <p:txBody>
          <a:bodyPr/>
          <a:lstStyle/>
          <a:p>
            <a:endParaRPr lang="en-US"/>
          </a:p>
        </p:txBody>
      </p:sp>
      <p:grpSp>
        <p:nvGrpSpPr>
          <p:cNvPr id="4" name="Group 4"/>
          <p:cNvGrpSpPr/>
          <p:nvPr/>
        </p:nvGrpSpPr>
        <p:grpSpPr>
          <a:xfrm rot="-5400000">
            <a:off x="-5707611" y="-3140582"/>
            <a:ext cx="2567029" cy="10905593"/>
            <a:chOff x="0" y="0"/>
            <a:chExt cx="3422705" cy="14540791"/>
          </a:xfrm>
        </p:grpSpPr>
        <p:sp>
          <p:nvSpPr>
            <p:cNvPr id="5" name="AutoShape 5"/>
            <p:cNvSpPr/>
            <p:nvPr/>
          </p:nvSpPr>
          <p:spPr>
            <a:xfrm>
              <a:off x="0" y="0"/>
              <a:ext cx="1140902" cy="14540791"/>
            </a:xfrm>
            <a:prstGeom prst="rect">
              <a:avLst/>
            </a:prstGeom>
            <a:solidFill>
              <a:srgbClr val="F8FBFD">
                <a:alpha val="69804"/>
              </a:srgbClr>
            </a:solidFill>
          </p:spPr>
          <p:txBody>
            <a:bodyPr/>
            <a:lstStyle/>
            <a:p>
              <a:endParaRPr lang="en-US"/>
            </a:p>
          </p:txBody>
        </p:sp>
        <p:sp>
          <p:nvSpPr>
            <p:cNvPr id="6" name="AutoShape 6"/>
            <p:cNvSpPr/>
            <p:nvPr/>
          </p:nvSpPr>
          <p:spPr>
            <a:xfrm>
              <a:off x="1140902" y="0"/>
              <a:ext cx="1140902" cy="14540791"/>
            </a:xfrm>
            <a:prstGeom prst="rect">
              <a:avLst/>
            </a:prstGeom>
            <a:solidFill>
              <a:srgbClr val="F8FBFD">
                <a:alpha val="40000"/>
              </a:srgbClr>
            </a:solidFill>
          </p:spPr>
          <p:txBody>
            <a:bodyPr/>
            <a:lstStyle/>
            <a:p>
              <a:endParaRPr lang="en-US"/>
            </a:p>
          </p:txBody>
        </p:sp>
        <p:sp>
          <p:nvSpPr>
            <p:cNvPr id="7" name="AutoShape 7"/>
            <p:cNvSpPr/>
            <p:nvPr/>
          </p:nvSpPr>
          <p:spPr>
            <a:xfrm>
              <a:off x="2281803" y="0"/>
              <a:ext cx="1140902" cy="14540791"/>
            </a:xfrm>
            <a:prstGeom prst="rect">
              <a:avLst/>
            </a:prstGeom>
            <a:solidFill>
              <a:srgbClr val="F8FBFD">
                <a:alpha val="9804"/>
              </a:srgbClr>
            </a:solidFill>
          </p:spPr>
          <p:txBody>
            <a:bodyPr/>
            <a:lstStyle/>
            <a:p>
              <a:endParaRPr lang="en-US"/>
            </a:p>
          </p:txBody>
        </p:sp>
      </p:grpSp>
      <p:sp>
        <p:nvSpPr>
          <p:cNvPr id="9" name="TextBox 9"/>
          <p:cNvSpPr txBox="1"/>
          <p:nvPr/>
        </p:nvSpPr>
        <p:spPr>
          <a:xfrm>
            <a:off x="1534305" y="3950944"/>
            <a:ext cx="4272491" cy="2810834"/>
          </a:xfrm>
          <a:prstGeom prst="rect">
            <a:avLst/>
          </a:prstGeom>
        </p:spPr>
        <p:txBody>
          <a:bodyPr wrap="square" lIns="0" tIns="0" rIns="0" bIns="0" rtlCol="0" anchor="t">
            <a:spAutoFit/>
          </a:bodyPr>
          <a:lstStyle/>
          <a:p>
            <a:pPr algn="ctr">
              <a:lnSpc>
                <a:spcPts val="4500"/>
              </a:lnSpc>
            </a:pPr>
            <a:r>
              <a:rPr lang="en-US" sz="3500" b="1" spc="30">
                <a:solidFill>
                  <a:srgbClr val="110B4B"/>
                </a:solidFill>
                <a:latin typeface="Montserrat Light"/>
              </a:rPr>
              <a:t>International Experience</a:t>
            </a:r>
          </a:p>
          <a:p>
            <a:pPr algn="ctr">
              <a:lnSpc>
                <a:spcPts val="4500"/>
              </a:lnSpc>
            </a:pPr>
            <a:endParaRPr lang="en-US" sz="2200" spc="30">
              <a:solidFill>
                <a:srgbClr val="110B4B"/>
              </a:solidFill>
              <a:latin typeface="Montserrat Light"/>
            </a:endParaRPr>
          </a:p>
          <a:p>
            <a:pPr algn="ctr">
              <a:lnSpc>
                <a:spcPts val="4500"/>
              </a:lnSpc>
            </a:pPr>
            <a:r>
              <a:rPr lang="en-US" sz="2200" spc="30">
                <a:solidFill>
                  <a:srgbClr val="110B4B"/>
                </a:solidFill>
                <a:latin typeface="Montserrat Light"/>
              </a:rPr>
              <a:t>Including USA, the Caribbean and Latin America</a:t>
            </a:r>
          </a:p>
        </p:txBody>
      </p:sp>
      <p:sp>
        <p:nvSpPr>
          <p:cNvPr id="12" name="TextBox 12"/>
          <p:cNvSpPr txBox="1"/>
          <p:nvPr/>
        </p:nvSpPr>
        <p:spPr>
          <a:xfrm>
            <a:off x="11421761" y="3941432"/>
            <a:ext cx="3925904" cy="3240439"/>
          </a:xfrm>
          <a:prstGeom prst="rect">
            <a:avLst/>
          </a:prstGeom>
        </p:spPr>
        <p:txBody>
          <a:bodyPr wrap="square" lIns="0" tIns="0" rIns="0" bIns="0" rtlCol="0" anchor="t">
            <a:spAutoFit/>
          </a:bodyPr>
          <a:lstStyle/>
          <a:p>
            <a:pPr algn="ctr">
              <a:lnSpc>
                <a:spcPts val="4327"/>
              </a:lnSpc>
            </a:pPr>
            <a:r>
              <a:rPr lang="en-US" sz="3500" b="1" spc="28">
                <a:solidFill>
                  <a:srgbClr val="110B4B"/>
                </a:solidFill>
                <a:latin typeface="Montserrat Light"/>
              </a:rPr>
              <a:t>Qualifications and Credibility</a:t>
            </a:r>
            <a:endParaRPr lang="en-US" sz="3200" b="1" spc="28">
              <a:solidFill>
                <a:srgbClr val="110B4B"/>
              </a:solidFill>
              <a:latin typeface="Montserrat Light"/>
            </a:endParaRPr>
          </a:p>
          <a:p>
            <a:pPr algn="ctr">
              <a:lnSpc>
                <a:spcPts val="4327"/>
              </a:lnSpc>
            </a:pPr>
            <a:endParaRPr lang="en-US" sz="2200" spc="28">
              <a:solidFill>
                <a:srgbClr val="110B4B"/>
              </a:solidFill>
              <a:latin typeface="Montserrat Light"/>
            </a:endParaRPr>
          </a:p>
          <a:p>
            <a:pPr algn="ctr">
              <a:lnSpc>
                <a:spcPts val="4327"/>
              </a:lnSpc>
            </a:pPr>
            <a:r>
              <a:rPr lang="en-US" sz="2200" spc="28">
                <a:solidFill>
                  <a:srgbClr val="110B4B"/>
                </a:solidFill>
                <a:latin typeface="Montserrat Light"/>
              </a:rPr>
              <a:t>Actuarial credentials from USA and approved in the main jurisdictions</a:t>
            </a:r>
          </a:p>
        </p:txBody>
      </p:sp>
      <p:pic>
        <p:nvPicPr>
          <p:cNvPr id="15" name="Picture 15"/>
          <p:cNvPicPr>
            <a:picLocks noChangeAspect="1"/>
          </p:cNvPicPr>
          <p:nvPr/>
        </p:nvPicPr>
        <p:blipFill>
          <a:blip r:embed="rId2"/>
          <a:srcRect/>
          <a:stretch>
            <a:fillRect/>
          </a:stretch>
        </p:blipFill>
        <p:spPr>
          <a:xfrm>
            <a:off x="15856568" y="624141"/>
            <a:ext cx="2260633" cy="809118"/>
          </a:xfrm>
          <a:prstGeom prst="rect">
            <a:avLst/>
          </a:prstGeom>
        </p:spPr>
      </p:pic>
      <p:sp>
        <p:nvSpPr>
          <p:cNvPr id="17" name="TextBox 9">
            <a:extLst>
              <a:ext uri="{FF2B5EF4-FFF2-40B4-BE49-F238E27FC236}">
                <a16:creationId xmlns:a16="http://schemas.microsoft.com/office/drawing/2014/main" id="{C777FC3D-6619-24BF-57AE-717E3EF62E72}"/>
              </a:ext>
            </a:extLst>
          </p:cNvPr>
          <p:cNvSpPr txBox="1"/>
          <p:nvPr/>
        </p:nvSpPr>
        <p:spPr>
          <a:xfrm>
            <a:off x="6248399" y="3941432"/>
            <a:ext cx="4546837" cy="3387915"/>
          </a:xfrm>
          <a:prstGeom prst="rect">
            <a:avLst/>
          </a:prstGeom>
        </p:spPr>
        <p:txBody>
          <a:bodyPr wrap="square" lIns="0" tIns="0" rIns="0" bIns="0" rtlCol="0" anchor="t">
            <a:spAutoFit/>
          </a:bodyPr>
          <a:lstStyle/>
          <a:p>
            <a:pPr algn="ctr">
              <a:lnSpc>
                <a:spcPts val="4500"/>
              </a:lnSpc>
            </a:pPr>
            <a:r>
              <a:rPr lang="en-US" sz="3500" b="1" spc="30">
                <a:solidFill>
                  <a:srgbClr val="110B4B"/>
                </a:solidFill>
                <a:latin typeface="Montserrat Light"/>
              </a:rPr>
              <a:t>Experience with Fortune 500</a:t>
            </a:r>
            <a:endParaRPr lang="en-US" sz="2200" spc="30">
              <a:solidFill>
                <a:srgbClr val="110B4B"/>
              </a:solidFill>
              <a:latin typeface="Montserrat Light"/>
            </a:endParaRPr>
          </a:p>
          <a:p>
            <a:pPr algn="ctr">
              <a:lnSpc>
                <a:spcPts val="4500"/>
              </a:lnSpc>
            </a:pPr>
            <a:endParaRPr lang="en-US" sz="2200" spc="30">
              <a:solidFill>
                <a:srgbClr val="110B4B"/>
              </a:solidFill>
              <a:latin typeface="Montserrat Light"/>
            </a:endParaRPr>
          </a:p>
          <a:p>
            <a:pPr algn="ctr">
              <a:lnSpc>
                <a:spcPts val="4500"/>
              </a:lnSpc>
            </a:pPr>
            <a:r>
              <a:rPr lang="en-US" sz="2200" spc="30">
                <a:solidFill>
                  <a:srgbClr val="110B4B"/>
                </a:solidFill>
                <a:latin typeface="Montserrat Light"/>
              </a:rPr>
              <a:t>We have worked in </a:t>
            </a:r>
            <a:r>
              <a:rPr lang="en-US" sz="2200" spc="28">
                <a:solidFill>
                  <a:srgbClr val="110B4B"/>
                </a:solidFill>
                <a:latin typeface="Montserrat Light"/>
              </a:rPr>
              <a:t>Fortune 500 companies, and we work with Fortune 500 customers</a:t>
            </a:r>
            <a:endParaRPr lang="en-US" sz="2200" spc="30">
              <a:solidFill>
                <a:srgbClr val="110B4B"/>
              </a:solidFill>
              <a:latin typeface="Montserrat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2038377" y="1710909"/>
            <a:ext cx="11346336" cy="1000274"/>
          </a:xfrm>
          <a:prstGeom prst="rect">
            <a:avLst/>
          </a:prstGeom>
        </p:spPr>
        <p:txBody>
          <a:bodyPr lIns="0" tIns="0" rIns="0" bIns="0" rtlCol="0" anchor="t">
            <a:spAutoFit/>
          </a:bodyPr>
          <a:lstStyle/>
          <a:p>
            <a:pPr>
              <a:lnSpc>
                <a:spcPts val="7800"/>
              </a:lnSpc>
            </a:pPr>
            <a:r>
              <a:rPr lang="en-US" sz="7500" spc="455">
                <a:solidFill>
                  <a:srgbClr val="110B4B"/>
                </a:solidFill>
                <a:latin typeface="Montserrat Classic Bold"/>
              </a:rPr>
              <a:t>Our Value</a:t>
            </a:r>
          </a:p>
        </p:txBody>
      </p:sp>
      <p:sp>
        <p:nvSpPr>
          <p:cNvPr id="3" name="AutoShape 3"/>
          <p:cNvSpPr/>
          <p:nvPr/>
        </p:nvSpPr>
        <p:spPr>
          <a:xfrm>
            <a:off x="15656762" y="-285750"/>
            <a:ext cx="2895600" cy="10896600"/>
          </a:xfrm>
          <a:prstGeom prst="rect">
            <a:avLst/>
          </a:prstGeom>
          <a:solidFill>
            <a:srgbClr val="F8FBFD"/>
          </a:solidFill>
        </p:spPr>
        <p:txBody>
          <a:bodyPr/>
          <a:lstStyle/>
          <a:p>
            <a:endParaRPr lang="en-US"/>
          </a:p>
        </p:txBody>
      </p:sp>
      <p:grpSp>
        <p:nvGrpSpPr>
          <p:cNvPr id="4" name="Group 4"/>
          <p:cNvGrpSpPr/>
          <p:nvPr/>
        </p:nvGrpSpPr>
        <p:grpSpPr>
          <a:xfrm rot="-5400000">
            <a:off x="-5707611" y="-3140582"/>
            <a:ext cx="2567029" cy="10905593"/>
            <a:chOff x="0" y="0"/>
            <a:chExt cx="3422705" cy="14540791"/>
          </a:xfrm>
        </p:grpSpPr>
        <p:sp>
          <p:nvSpPr>
            <p:cNvPr id="5" name="AutoShape 5"/>
            <p:cNvSpPr/>
            <p:nvPr/>
          </p:nvSpPr>
          <p:spPr>
            <a:xfrm>
              <a:off x="0" y="0"/>
              <a:ext cx="1140902" cy="14540791"/>
            </a:xfrm>
            <a:prstGeom prst="rect">
              <a:avLst/>
            </a:prstGeom>
            <a:solidFill>
              <a:srgbClr val="F8FBFD">
                <a:alpha val="69804"/>
              </a:srgbClr>
            </a:solidFill>
          </p:spPr>
          <p:txBody>
            <a:bodyPr/>
            <a:lstStyle/>
            <a:p>
              <a:endParaRPr lang="en-US"/>
            </a:p>
          </p:txBody>
        </p:sp>
        <p:sp>
          <p:nvSpPr>
            <p:cNvPr id="6" name="AutoShape 6"/>
            <p:cNvSpPr/>
            <p:nvPr/>
          </p:nvSpPr>
          <p:spPr>
            <a:xfrm>
              <a:off x="1140902" y="0"/>
              <a:ext cx="1140902" cy="14540791"/>
            </a:xfrm>
            <a:prstGeom prst="rect">
              <a:avLst/>
            </a:prstGeom>
            <a:solidFill>
              <a:srgbClr val="F8FBFD">
                <a:alpha val="40000"/>
              </a:srgbClr>
            </a:solidFill>
          </p:spPr>
          <p:txBody>
            <a:bodyPr/>
            <a:lstStyle/>
            <a:p>
              <a:endParaRPr lang="en-US"/>
            </a:p>
          </p:txBody>
        </p:sp>
        <p:sp>
          <p:nvSpPr>
            <p:cNvPr id="7" name="AutoShape 7"/>
            <p:cNvSpPr/>
            <p:nvPr/>
          </p:nvSpPr>
          <p:spPr>
            <a:xfrm>
              <a:off x="2281803" y="0"/>
              <a:ext cx="1140902" cy="14540791"/>
            </a:xfrm>
            <a:prstGeom prst="rect">
              <a:avLst/>
            </a:prstGeom>
            <a:solidFill>
              <a:srgbClr val="F8FBFD">
                <a:alpha val="9804"/>
              </a:srgbClr>
            </a:solidFill>
          </p:spPr>
          <p:txBody>
            <a:bodyPr/>
            <a:lstStyle/>
            <a:p>
              <a:endParaRPr lang="en-US"/>
            </a:p>
          </p:txBody>
        </p:sp>
      </p:grpSp>
      <p:sp>
        <p:nvSpPr>
          <p:cNvPr id="8" name="TextBox 8"/>
          <p:cNvSpPr txBox="1"/>
          <p:nvPr/>
        </p:nvSpPr>
        <p:spPr>
          <a:xfrm>
            <a:off x="11829024" y="4208172"/>
            <a:ext cx="2604208" cy="1688347"/>
          </a:xfrm>
          <a:prstGeom prst="rect">
            <a:avLst/>
          </a:prstGeom>
        </p:spPr>
        <p:txBody>
          <a:bodyPr lIns="0" tIns="0" rIns="0" bIns="0" rtlCol="0" anchor="t">
            <a:spAutoFit/>
          </a:bodyPr>
          <a:lstStyle/>
          <a:p>
            <a:pPr algn="ctr">
              <a:lnSpc>
                <a:spcPts val="4500"/>
              </a:lnSpc>
            </a:pPr>
            <a:r>
              <a:rPr lang="en-US" sz="3200" b="1" spc="30">
                <a:solidFill>
                  <a:srgbClr val="110B4B"/>
                </a:solidFill>
                <a:latin typeface="Montserrat Light"/>
              </a:rPr>
              <a:t>Reasonable operating costs</a:t>
            </a:r>
          </a:p>
        </p:txBody>
      </p:sp>
      <p:sp>
        <p:nvSpPr>
          <p:cNvPr id="10" name="TextBox 10"/>
          <p:cNvSpPr txBox="1"/>
          <p:nvPr/>
        </p:nvSpPr>
        <p:spPr>
          <a:xfrm>
            <a:off x="7022485" y="4240448"/>
            <a:ext cx="3448050" cy="2137573"/>
          </a:xfrm>
          <a:prstGeom prst="rect">
            <a:avLst/>
          </a:prstGeom>
        </p:spPr>
        <p:txBody>
          <a:bodyPr wrap="square" lIns="0" tIns="0" rIns="0" bIns="0" rtlCol="0" anchor="t">
            <a:spAutoFit/>
          </a:bodyPr>
          <a:lstStyle/>
          <a:p>
            <a:pPr algn="ctr">
              <a:lnSpc>
                <a:spcPts val="4327"/>
              </a:lnSpc>
            </a:pPr>
            <a:r>
              <a:rPr lang="en-US" sz="3200" b="1" spc="28">
                <a:solidFill>
                  <a:srgbClr val="110B4B"/>
                </a:solidFill>
                <a:latin typeface="Montserrat Light"/>
              </a:rPr>
              <a:t>Personalized solutions</a:t>
            </a:r>
          </a:p>
          <a:p>
            <a:pPr algn="ctr">
              <a:lnSpc>
                <a:spcPts val="4327"/>
              </a:lnSpc>
            </a:pPr>
            <a:endParaRPr lang="en-US" sz="2885" b="1" spc="28">
              <a:solidFill>
                <a:srgbClr val="110B4B"/>
              </a:solidFill>
              <a:latin typeface="Montserrat Light"/>
            </a:endParaRPr>
          </a:p>
          <a:p>
            <a:pPr algn="ctr">
              <a:lnSpc>
                <a:spcPts val="4327"/>
              </a:lnSpc>
            </a:pPr>
            <a:r>
              <a:rPr lang="en-US" sz="2200" spc="28">
                <a:solidFill>
                  <a:srgbClr val="110B4B"/>
                </a:solidFill>
                <a:latin typeface="Montserrat Light"/>
              </a:rPr>
              <a:t>Multilingual team</a:t>
            </a:r>
          </a:p>
        </p:txBody>
      </p:sp>
      <p:sp>
        <p:nvSpPr>
          <p:cNvPr id="13" name="TextBox 13"/>
          <p:cNvSpPr txBox="1"/>
          <p:nvPr/>
        </p:nvSpPr>
        <p:spPr>
          <a:xfrm>
            <a:off x="2745908" y="4332763"/>
            <a:ext cx="3099559" cy="2137573"/>
          </a:xfrm>
          <a:prstGeom prst="rect">
            <a:avLst/>
          </a:prstGeom>
        </p:spPr>
        <p:txBody>
          <a:bodyPr lIns="0" tIns="0" rIns="0" bIns="0" rtlCol="0" anchor="t">
            <a:spAutoFit/>
          </a:bodyPr>
          <a:lstStyle/>
          <a:p>
            <a:pPr algn="ctr">
              <a:lnSpc>
                <a:spcPts val="4327"/>
              </a:lnSpc>
            </a:pPr>
            <a:r>
              <a:rPr lang="en-US" sz="3500" b="1" spc="28">
                <a:solidFill>
                  <a:srgbClr val="110B4B"/>
                </a:solidFill>
                <a:latin typeface="Montserrat Light"/>
              </a:rPr>
              <a:t>High Quality services</a:t>
            </a:r>
          </a:p>
          <a:p>
            <a:pPr algn="ctr">
              <a:lnSpc>
                <a:spcPts val="4327"/>
              </a:lnSpc>
            </a:pPr>
            <a:endParaRPr lang="en-US" sz="3500" b="1" spc="28">
              <a:solidFill>
                <a:srgbClr val="110B4B"/>
              </a:solidFill>
              <a:latin typeface="Montserrat Light"/>
            </a:endParaRPr>
          </a:p>
          <a:p>
            <a:pPr algn="ctr">
              <a:lnSpc>
                <a:spcPts val="4327"/>
              </a:lnSpc>
            </a:pPr>
            <a:r>
              <a:rPr lang="en-US" sz="2200" spc="28">
                <a:solidFill>
                  <a:srgbClr val="110B4B"/>
                </a:solidFill>
                <a:latin typeface="Montserrat Light"/>
              </a:rPr>
              <a:t>Customer trust</a:t>
            </a:r>
          </a:p>
        </p:txBody>
      </p:sp>
      <p:pic>
        <p:nvPicPr>
          <p:cNvPr id="15" name="Picture 15"/>
          <p:cNvPicPr>
            <a:picLocks noChangeAspect="1"/>
          </p:cNvPicPr>
          <p:nvPr/>
        </p:nvPicPr>
        <p:blipFill>
          <a:blip r:embed="rId2"/>
          <a:srcRect/>
          <a:stretch>
            <a:fillRect/>
          </a:stretch>
        </p:blipFill>
        <p:spPr>
          <a:xfrm>
            <a:off x="15856568" y="624141"/>
            <a:ext cx="2260633" cy="809118"/>
          </a:xfrm>
          <a:prstGeom prst="rect">
            <a:avLst/>
          </a:prstGeom>
        </p:spPr>
      </p:pic>
    </p:spTree>
    <p:extLst>
      <p:ext uri="{BB962C8B-B14F-4D97-AF65-F5344CB8AC3E}">
        <p14:creationId xmlns:p14="http://schemas.microsoft.com/office/powerpoint/2010/main" val="654259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1028700"/>
            <a:ext cx="16230600" cy="8229600"/>
          </a:xfrm>
          <a:prstGeom prst="rect">
            <a:avLst/>
          </a:prstGeom>
          <a:solidFill>
            <a:srgbClr val="F8FBFD">
              <a:alpha val="89804"/>
            </a:srgbClr>
          </a:solidFill>
        </p:spPr>
        <p:txBody>
          <a:bodyPr/>
          <a:lstStyle/>
          <a:p>
            <a:endParaRPr lang="en-US"/>
          </a:p>
        </p:txBody>
      </p:sp>
      <p:sp>
        <p:nvSpPr>
          <p:cNvPr id="3" name="AutoShape 3"/>
          <p:cNvSpPr/>
          <p:nvPr/>
        </p:nvSpPr>
        <p:spPr>
          <a:xfrm>
            <a:off x="3227653" y="6266254"/>
            <a:ext cx="4436739" cy="173843"/>
          </a:xfrm>
          <a:prstGeom prst="rect">
            <a:avLst/>
          </a:prstGeom>
          <a:solidFill>
            <a:srgbClr val="110B4B"/>
          </a:solidFill>
        </p:spPr>
        <p:txBody>
          <a:bodyPr/>
          <a:lstStyle/>
          <a:p>
            <a:endParaRPr lang="en-US"/>
          </a:p>
        </p:txBody>
      </p:sp>
      <p:pic>
        <p:nvPicPr>
          <p:cNvPr id="4" name="Picture 4"/>
          <p:cNvPicPr>
            <a:picLocks noChangeAspect="1"/>
          </p:cNvPicPr>
          <p:nvPr/>
        </p:nvPicPr>
        <p:blipFill>
          <a:blip r:embed="rId2"/>
          <a:srcRect/>
          <a:stretch>
            <a:fillRect/>
          </a:stretch>
        </p:blipFill>
        <p:spPr>
          <a:xfrm>
            <a:off x="14794626" y="1185252"/>
            <a:ext cx="2260633" cy="809118"/>
          </a:xfrm>
          <a:prstGeom prst="rect">
            <a:avLst/>
          </a:prstGeom>
        </p:spPr>
      </p:pic>
      <p:pic>
        <p:nvPicPr>
          <p:cNvPr id="5" name="Picture 5"/>
          <p:cNvPicPr>
            <a:picLocks noChangeAspect="1"/>
          </p:cNvPicPr>
          <p:nvPr/>
        </p:nvPicPr>
        <p:blipFill>
          <a:blip r:embed="rId3"/>
          <a:srcRect/>
          <a:stretch>
            <a:fillRect/>
          </a:stretch>
        </p:blipFill>
        <p:spPr>
          <a:xfrm>
            <a:off x="4654059" y="5027324"/>
            <a:ext cx="1583928" cy="892939"/>
          </a:xfrm>
          <a:prstGeom prst="rect">
            <a:avLst/>
          </a:prstGeom>
        </p:spPr>
      </p:pic>
      <p:sp>
        <p:nvSpPr>
          <p:cNvPr id="6" name="AutoShape 6"/>
          <p:cNvSpPr/>
          <p:nvPr/>
        </p:nvSpPr>
        <p:spPr>
          <a:xfrm>
            <a:off x="10357887" y="6266254"/>
            <a:ext cx="4436739" cy="173843"/>
          </a:xfrm>
          <a:prstGeom prst="rect">
            <a:avLst/>
          </a:prstGeom>
          <a:solidFill>
            <a:srgbClr val="110B4B"/>
          </a:solidFill>
        </p:spPr>
        <p:txBody>
          <a:bodyPr/>
          <a:lstStyle/>
          <a:p>
            <a:endParaRPr lang="en-US"/>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636" t="9148" b="10471"/>
          <a:stretch>
            <a:fillRect/>
          </a:stretch>
        </p:blipFill>
        <p:spPr>
          <a:xfrm>
            <a:off x="11784293" y="4995397"/>
            <a:ext cx="1583928" cy="924867"/>
          </a:xfrm>
          <a:prstGeom prst="rect">
            <a:avLst/>
          </a:prstGeom>
        </p:spPr>
      </p:pic>
      <p:sp>
        <p:nvSpPr>
          <p:cNvPr id="8" name="TextBox 8"/>
          <p:cNvSpPr txBox="1"/>
          <p:nvPr/>
        </p:nvSpPr>
        <p:spPr>
          <a:xfrm>
            <a:off x="2229394" y="6540738"/>
            <a:ext cx="6433258" cy="1106970"/>
          </a:xfrm>
          <a:prstGeom prst="rect">
            <a:avLst/>
          </a:prstGeom>
        </p:spPr>
        <p:txBody>
          <a:bodyPr lIns="0" tIns="0" rIns="0" bIns="0" rtlCol="0" anchor="t">
            <a:spAutoFit/>
          </a:bodyPr>
          <a:lstStyle/>
          <a:p>
            <a:pPr algn="ctr">
              <a:lnSpc>
                <a:spcPts val="4590"/>
              </a:lnSpc>
            </a:pPr>
            <a:r>
              <a:rPr lang="en-US" sz="3000" spc="330">
                <a:solidFill>
                  <a:srgbClr val="110B4B"/>
                </a:solidFill>
                <a:latin typeface="Montserrat Classic"/>
              </a:rPr>
              <a:t>1 Alhambra Plaza, Floor PH</a:t>
            </a:r>
          </a:p>
          <a:p>
            <a:pPr algn="ctr">
              <a:lnSpc>
                <a:spcPts val="4590"/>
              </a:lnSpc>
            </a:pPr>
            <a:r>
              <a:rPr lang="en-US" sz="3000" spc="330">
                <a:solidFill>
                  <a:srgbClr val="110B4B"/>
                </a:solidFill>
                <a:latin typeface="Montserrat Classic"/>
              </a:rPr>
              <a:t>Coral Gables, FL 33134</a:t>
            </a:r>
          </a:p>
        </p:txBody>
      </p:sp>
      <p:sp>
        <p:nvSpPr>
          <p:cNvPr id="9" name="TextBox 9"/>
          <p:cNvSpPr txBox="1"/>
          <p:nvPr/>
        </p:nvSpPr>
        <p:spPr>
          <a:xfrm>
            <a:off x="1999200" y="1775096"/>
            <a:ext cx="4897476" cy="1167627"/>
          </a:xfrm>
          <a:prstGeom prst="rect">
            <a:avLst/>
          </a:prstGeom>
        </p:spPr>
        <p:txBody>
          <a:bodyPr lIns="0" tIns="0" rIns="0" bIns="0" rtlCol="0" anchor="t">
            <a:spAutoFit/>
          </a:bodyPr>
          <a:lstStyle/>
          <a:p>
            <a:pPr>
              <a:lnSpc>
                <a:spcPts val="10244"/>
              </a:lnSpc>
            </a:pPr>
            <a:r>
              <a:rPr lang="en-US" sz="7500" spc="73">
                <a:solidFill>
                  <a:srgbClr val="110B4B"/>
                </a:solidFill>
                <a:latin typeface="Montserrat Classic Bold"/>
              </a:rPr>
              <a:t>Contact</a:t>
            </a:r>
          </a:p>
        </p:txBody>
      </p:sp>
      <p:sp>
        <p:nvSpPr>
          <p:cNvPr id="10" name="TextBox 10"/>
          <p:cNvSpPr txBox="1"/>
          <p:nvPr/>
        </p:nvSpPr>
        <p:spPr>
          <a:xfrm>
            <a:off x="2229394" y="7984152"/>
            <a:ext cx="6433258" cy="517065"/>
          </a:xfrm>
          <a:prstGeom prst="rect">
            <a:avLst/>
          </a:prstGeom>
        </p:spPr>
        <p:txBody>
          <a:bodyPr lIns="0" tIns="0" rIns="0" bIns="0" rtlCol="0" anchor="t">
            <a:spAutoFit/>
          </a:bodyPr>
          <a:lstStyle/>
          <a:p>
            <a:pPr algn="ctr">
              <a:lnSpc>
                <a:spcPts val="4590"/>
              </a:lnSpc>
            </a:pPr>
            <a:r>
              <a:rPr lang="en-US" sz="3000" spc="330" dirty="0">
                <a:solidFill>
                  <a:srgbClr val="110B4B"/>
                </a:solidFill>
                <a:latin typeface="Montserrat Classic"/>
              </a:rPr>
              <a:t> (+1) 800-957-9196</a:t>
            </a:r>
            <a:endParaRPr lang="en-US" sz="3000" spc="330" dirty="0">
              <a:solidFill>
                <a:srgbClr val="110B4B"/>
              </a:solidFill>
              <a:latin typeface="Montserrat Classic"/>
              <a:hlinkClick r:id="rId5" tooltip="tel://800-957-9196">
                <a:extLst>
                  <a:ext uri="{A12FA001-AC4F-418D-AE19-62706E023703}">
                    <ahyp:hlinkClr xmlns:ahyp="http://schemas.microsoft.com/office/drawing/2018/hyperlinkcolor" val="tx"/>
                  </a:ext>
                </a:extLst>
              </a:hlinkClick>
            </a:endParaRPr>
          </a:p>
        </p:txBody>
      </p:sp>
      <p:sp>
        <p:nvSpPr>
          <p:cNvPr id="11" name="TextBox 11"/>
          <p:cNvSpPr txBox="1"/>
          <p:nvPr/>
        </p:nvSpPr>
        <p:spPr>
          <a:xfrm>
            <a:off x="5927371" y="8542628"/>
            <a:ext cx="6433258" cy="517065"/>
          </a:xfrm>
          <a:prstGeom prst="rect">
            <a:avLst/>
          </a:prstGeom>
        </p:spPr>
        <p:txBody>
          <a:bodyPr lIns="0" tIns="0" rIns="0" bIns="0" rtlCol="0" anchor="t">
            <a:spAutoFit/>
          </a:bodyPr>
          <a:lstStyle/>
          <a:p>
            <a:pPr algn="ctr">
              <a:lnSpc>
                <a:spcPts val="4590"/>
              </a:lnSpc>
            </a:pPr>
            <a:r>
              <a:rPr lang="en-US" sz="3000" spc="6" dirty="0">
                <a:solidFill>
                  <a:srgbClr val="110B4B"/>
                </a:solidFill>
                <a:latin typeface="Montserrat Classic"/>
              </a:rPr>
              <a:t>info@actuarialfactor.com</a:t>
            </a:r>
          </a:p>
        </p:txBody>
      </p:sp>
      <p:sp>
        <p:nvSpPr>
          <p:cNvPr id="12" name="TextBox 12"/>
          <p:cNvSpPr txBox="1"/>
          <p:nvPr/>
        </p:nvSpPr>
        <p:spPr>
          <a:xfrm>
            <a:off x="9359628" y="7908820"/>
            <a:ext cx="6433258" cy="517065"/>
          </a:xfrm>
          <a:prstGeom prst="rect">
            <a:avLst/>
          </a:prstGeom>
        </p:spPr>
        <p:txBody>
          <a:bodyPr lIns="0" tIns="0" rIns="0" bIns="0" rtlCol="0" anchor="t">
            <a:spAutoFit/>
          </a:bodyPr>
          <a:lstStyle/>
          <a:p>
            <a:pPr algn="ctr">
              <a:lnSpc>
                <a:spcPts val="4590"/>
              </a:lnSpc>
            </a:pPr>
            <a:r>
              <a:rPr lang="en-US" sz="3000" spc="330" dirty="0">
                <a:solidFill>
                  <a:srgbClr val="110B4B"/>
                </a:solidFill>
                <a:latin typeface="Montserrat Classic"/>
              </a:rPr>
              <a:t>(+52) 55-2155-2059</a:t>
            </a:r>
          </a:p>
        </p:txBody>
      </p:sp>
      <p:sp>
        <p:nvSpPr>
          <p:cNvPr id="13" name="TextBox 13"/>
          <p:cNvSpPr txBox="1"/>
          <p:nvPr/>
        </p:nvSpPr>
        <p:spPr>
          <a:xfrm>
            <a:off x="9434534" y="6598920"/>
            <a:ext cx="6624071" cy="972317"/>
          </a:xfrm>
          <a:prstGeom prst="rect">
            <a:avLst/>
          </a:prstGeom>
        </p:spPr>
        <p:txBody>
          <a:bodyPr wrap="square" lIns="0" tIns="0" rIns="0" bIns="0" rtlCol="0" anchor="t">
            <a:spAutoFit/>
          </a:bodyPr>
          <a:lstStyle/>
          <a:p>
            <a:pPr algn="ctr">
              <a:lnSpc>
                <a:spcPts val="3960"/>
              </a:lnSpc>
            </a:pPr>
            <a:r>
              <a:rPr lang="en-US" sz="3000" spc="330" dirty="0">
                <a:solidFill>
                  <a:srgbClr val="110B4B"/>
                </a:solidFill>
                <a:latin typeface="Montserrat Classic"/>
              </a:rPr>
              <a:t>Av. Pte. Masaryk 111, Polanco</a:t>
            </a:r>
          </a:p>
          <a:p>
            <a:pPr algn="ctr">
              <a:lnSpc>
                <a:spcPts val="3960"/>
              </a:lnSpc>
            </a:pPr>
            <a:r>
              <a:rPr lang="en-US" sz="3000" spc="330" dirty="0">
                <a:solidFill>
                  <a:srgbClr val="110B4B"/>
                </a:solidFill>
                <a:latin typeface="Montserrat Classic"/>
              </a:rPr>
              <a:t>CDMX 11560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442</Words>
  <Application>Microsoft Office PowerPoint</Application>
  <PresentationFormat>Custom</PresentationFormat>
  <Paragraphs>77</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Montserrat Classic Bold</vt:lpstr>
      <vt:lpstr>Calibri</vt:lpstr>
      <vt:lpstr>Montserrat Light</vt:lpstr>
      <vt:lpstr>Montserrat Classic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 Presentation 2</dc:title>
  <dc:creator>Perla Galindo</dc:creator>
  <cp:lastModifiedBy>Perla Galindo</cp:lastModifiedBy>
  <cp:revision>5</cp:revision>
  <dcterms:created xsi:type="dcterms:W3CDTF">2006-08-16T00:00:00Z</dcterms:created>
  <dcterms:modified xsi:type="dcterms:W3CDTF">2026-09-28T14:09:45Z</dcterms:modified>
  <dc:identifier>DAFZeH1Abhs</dc:identifier>
</cp:coreProperties>
</file>